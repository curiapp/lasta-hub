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bd2242d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cbd2242d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bd2242d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bd2242d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cbd2242d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cbd2242d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cbd2242d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cbd2242d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bd2242d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cbd2242d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cbd2242d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cbd2242d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cbd2242d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cbd2242d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cbd2242d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cbd2242d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bd2242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cbd2242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cbd2242d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cbd2242d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bd2242d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bd2242d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bd2242d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bd2242d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bd2242d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bd2242d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cbd2242d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cbd2242d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cbd2242d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cbd2242d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cbd2242d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cbd2242d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cbd2242d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cbd2242d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4: CPU and Von Neumann Architecture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40"/>
              <a:t>Introduction to the CPU and the Von Neumann Model</a:t>
            </a:r>
            <a:endParaRPr sz="22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The CPU (Central Processing Unit):</a:t>
            </a:r>
            <a:r>
              <a:rPr lang="en-GB" sz="1100">
                <a:solidFill>
                  <a:srgbClr val="000000"/>
                </a:solidFill>
              </a:rPr>
              <a:t> The "brain" of the computer. It performs all calculations and executes program instructions. It is a complex integrated circuit containing billions of transistors.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The Von Neumann Model:</a:t>
            </a:r>
            <a:r>
              <a:rPr lang="en-GB" sz="1100">
                <a:solidFill>
                  <a:srgbClr val="000000"/>
                </a:solidFill>
              </a:rPr>
              <a:t> A design architecture where both program instructions and data are stored in the same main memory.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This is the basis for most modern computers, allowing for flexible program execution.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It enables the CPU to fetch both instructions and data from a single memory location.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A key consequence:</a:t>
            </a:r>
            <a:r>
              <a:rPr lang="en-GB" sz="1100">
                <a:solidFill>
                  <a:srgbClr val="000000"/>
                </a:solidFill>
              </a:rPr>
              <a:t> The "Von Neumann bottleneck," which is the limited data transfer rate between the CPU and memory.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40"/>
              <a:t>Introduction to the CPU and the Von Neumann Model</a:t>
            </a:r>
            <a:endParaRPr sz="22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577" y="2149450"/>
            <a:ext cx="2466775" cy="2230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240"/>
              <a:t>Introduction to the CPU and the Von Neumann Model</a:t>
            </a:r>
            <a:endParaRPr sz="224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Evolution of Architecture: CISC vs. RISC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CISC (Complex Instruction Set Computing):</a:t>
            </a:r>
            <a:r>
              <a:rPr lang="en-GB" sz="1100">
                <a:solidFill>
                  <a:srgbClr val="000000"/>
                </a:solidFill>
              </a:rPr>
              <a:t> Architectures (like early Intel x86) with a large number of complex instructions. A single instruction can perform multiple low-level operations (e.g., a single instruction to load data from memory and perform a calculation).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RISC (Reduced Instruction Set Computing):</a:t>
            </a:r>
            <a:r>
              <a:rPr lang="en-GB" sz="1100">
                <a:solidFill>
                  <a:srgbClr val="000000"/>
                </a:solidFill>
              </a:rPr>
              <a:t> Architectures (like ARM) with a small, highly optimized set of simple instructions. Complex tasks are broken down into multiple simpler instructions. This simplifies the hardware and can lead to faster execution.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Fetch-Execute Cycle - Part 1</a:t>
            </a:r>
            <a:endParaRPr sz="2840"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What is it?</a:t>
            </a:r>
            <a:r>
              <a:rPr lang="en-GB" sz="1100">
                <a:solidFill>
                  <a:srgbClr val="000000"/>
                </a:solidFill>
              </a:rPr>
              <a:t> The fundamental process by which a CPU retrieves an instruction from memory and then carries it out. It is the heart of CPU operation.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It's a continuous, repeating cycle:</a:t>
            </a:r>
            <a:r>
              <a:rPr lang="en-GB" sz="1100">
                <a:solidFill>
                  <a:srgbClr val="000000"/>
                </a:solidFill>
              </a:rPr>
              <a:t> The CPU constantly performs this cycle as long as the computer is running.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Example:</a:t>
            </a:r>
            <a:r>
              <a:rPr lang="en-GB" sz="1100">
                <a:solidFill>
                  <a:srgbClr val="000000"/>
                </a:solidFill>
              </a:rPr>
              <a:t> When you open an application, the CPU repeatedly executes instructions from the application's code by following this cycle.</a:t>
            </a:r>
            <a:endParaRPr b="1" sz="11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Fetch-Execute Cycle - Part 2</a:t>
            </a:r>
            <a:endParaRPr sz="2840"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017">
                <a:solidFill>
                  <a:srgbClr val="000000"/>
                </a:solidFill>
              </a:rPr>
              <a:t>The four main steps:</a:t>
            </a:r>
            <a:endParaRPr b="1" sz="1017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AutoNum type="arabicPeriod"/>
            </a:pPr>
            <a:r>
              <a:rPr b="1" lang="en-GB" sz="1017">
                <a:solidFill>
                  <a:srgbClr val="000000"/>
                </a:solidFill>
              </a:rPr>
              <a:t>Fetch:</a:t>
            </a:r>
            <a:r>
              <a:rPr lang="en-GB" sz="1017">
                <a:solidFill>
                  <a:srgbClr val="000000"/>
                </a:solidFill>
              </a:rPr>
              <a:t> The CPU retrieves the next instruction from main memory.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The address of the next instruction is held in the </a:t>
            </a:r>
            <a:r>
              <a:rPr b="1" lang="en-GB" sz="1017">
                <a:solidFill>
                  <a:srgbClr val="000000"/>
                </a:solidFill>
              </a:rPr>
              <a:t>Program Counter (PC)</a:t>
            </a:r>
            <a:r>
              <a:rPr lang="en-GB" sz="1017">
                <a:solidFill>
                  <a:srgbClr val="000000"/>
                </a:solidFill>
              </a:rPr>
              <a:t>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This address is copied to the </a:t>
            </a:r>
            <a:r>
              <a:rPr b="1" lang="en-GB" sz="1017">
                <a:solidFill>
                  <a:srgbClr val="000000"/>
                </a:solidFill>
              </a:rPr>
              <a:t>Memory Address Register (MAR)</a:t>
            </a:r>
            <a:r>
              <a:rPr lang="en-GB" sz="1017">
                <a:solidFill>
                  <a:srgbClr val="000000"/>
                </a:solidFill>
              </a:rPr>
              <a:t>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The instruction at that memory location is fetched and loaded into the </a:t>
            </a:r>
            <a:r>
              <a:rPr b="1" lang="en-GB" sz="1017">
                <a:solidFill>
                  <a:srgbClr val="000000"/>
                </a:solidFill>
              </a:rPr>
              <a:t>Memory Data Register (MDR)</a:t>
            </a:r>
            <a:r>
              <a:rPr lang="en-GB" sz="1017">
                <a:solidFill>
                  <a:srgbClr val="000000"/>
                </a:solidFill>
              </a:rPr>
              <a:t>.</a:t>
            </a:r>
            <a:endParaRPr sz="1017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AutoNum type="arabicPeriod"/>
            </a:pPr>
            <a:r>
              <a:rPr b="1" lang="en-GB" sz="1017">
                <a:solidFill>
                  <a:srgbClr val="000000"/>
                </a:solidFill>
              </a:rPr>
              <a:t>Decode:</a:t>
            </a:r>
            <a:r>
              <a:rPr lang="en-GB" sz="1017">
                <a:solidFill>
                  <a:srgbClr val="000000"/>
                </a:solidFill>
              </a:rPr>
              <a:t> The CPU interprets the instruction to understand what operation to perform.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The instruction from the MDR is copied to the </a:t>
            </a:r>
            <a:r>
              <a:rPr b="1" lang="en-GB" sz="1017">
                <a:solidFill>
                  <a:srgbClr val="000000"/>
                </a:solidFill>
              </a:rPr>
              <a:t>Current Instruction Register (CIR)</a:t>
            </a:r>
            <a:r>
              <a:rPr lang="en-GB" sz="1017">
                <a:solidFill>
                  <a:srgbClr val="000000"/>
                </a:solidFill>
              </a:rPr>
              <a:t>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The </a:t>
            </a:r>
            <a:r>
              <a:rPr b="1" lang="en-GB" sz="1017">
                <a:solidFill>
                  <a:srgbClr val="000000"/>
                </a:solidFill>
              </a:rPr>
              <a:t>Control Unit (CU)</a:t>
            </a:r>
            <a:r>
              <a:rPr lang="en-GB" sz="1017">
                <a:solidFill>
                  <a:srgbClr val="000000"/>
                </a:solidFill>
              </a:rPr>
              <a:t> decodes the instruction, breaking it down into an </a:t>
            </a:r>
            <a:r>
              <a:rPr b="1" lang="en-GB" sz="1017">
                <a:solidFill>
                  <a:srgbClr val="000000"/>
                </a:solidFill>
              </a:rPr>
              <a:t>Opcode</a:t>
            </a:r>
            <a:r>
              <a:rPr lang="en-GB" sz="1017">
                <a:solidFill>
                  <a:srgbClr val="000000"/>
                </a:solidFill>
              </a:rPr>
              <a:t> (the action) and an </a:t>
            </a:r>
            <a:r>
              <a:rPr b="1" lang="en-GB" sz="1017">
                <a:solidFill>
                  <a:srgbClr val="000000"/>
                </a:solidFill>
              </a:rPr>
              <a:t>Operand</a:t>
            </a:r>
            <a:r>
              <a:rPr lang="en-GB" sz="1017">
                <a:solidFill>
                  <a:srgbClr val="000000"/>
                </a:solidFill>
              </a:rPr>
              <a:t> (the data to act on).</a:t>
            </a:r>
            <a:endParaRPr sz="1017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AutoNum type="arabicPeriod"/>
            </a:pPr>
            <a:r>
              <a:rPr b="1" lang="en-GB" sz="1017">
                <a:solidFill>
                  <a:srgbClr val="000000"/>
                </a:solidFill>
              </a:rPr>
              <a:t>Execute:</a:t>
            </a:r>
            <a:r>
              <a:rPr lang="en-GB" sz="1017">
                <a:solidFill>
                  <a:srgbClr val="000000"/>
                </a:solidFill>
              </a:rPr>
              <a:t> The CPU carries out the operation.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lang="en-GB" sz="1017">
                <a:solidFill>
                  <a:srgbClr val="000000"/>
                </a:solidFill>
              </a:rPr>
              <a:t>This step is performed by the </a:t>
            </a:r>
            <a:r>
              <a:rPr b="1" lang="en-GB" sz="1017">
                <a:solidFill>
                  <a:srgbClr val="000000"/>
                </a:solidFill>
              </a:rPr>
              <a:t>ALU (Arithmetic Logic Unit)</a:t>
            </a:r>
            <a:r>
              <a:rPr lang="en-GB" sz="1017">
                <a:solidFill>
                  <a:srgbClr val="000000"/>
                </a:solidFill>
              </a:rPr>
              <a:t> for calculations or the </a:t>
            </a:r>
            <a:r>
              <a:rPr b="1" lang="en-GB" sz="1017">
                <a:solidFill>
                  <a:srgbClr val="000000"/>
                </a:solidFill>
              </a:rPr>
              <a:t>Control Unit</a:t>
            </a:r>
            <a:r>
              <a:rPr lang="en-GB" sz="1017">
                <a:solidFill>
                  <a:srgbClr val="000000"/>
                </a:solidFill>
              </a:rPr>
              <a:t> for data movement.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Char char="○"/>
            </a:pPr>
            <a:r>
              <a:rPr b="1" lang="en-GB" sz="1017">
                <a:solidFill>
                  <a:srgbClr val="000000"/>
                </a:solidFill>
              </a:rPr>
              <a:t>Examples:</a:t>
            </a:r>
            <a:r>
              <a:rPr lang="en-GB" sz="1017">
                <a:solidFill>
                  <a:srgbClr val="000000"/>
                </a:solidFill>
              </a:rPr>
              <a:t> A mathematical calculation like 4+2, a logical comparison like X&gt;Y, or moving data from one register to another.</a:t>
            </a:r>
            <a:endParaRPr sz="1017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AutoNum type="arabicPeriod"/>
            </a:pPr>
            <a:r>
              <a:rPr b="1" lang="en-GB" sz="1017">
                <a:solidFill>
                  <a:srgbClr val="000000"/>
                </a:solidFill>
              </a:rPr>
              <a:t>Store (Write Back):</a:t>
            </a:r>
            <a:r>
              <a:rPr lang="en-GB" sz="1017">
                <a:solidFill>
                  <a:srgbClr val="000000"/>
                </a:solidFill>
              </a:rPr>
              <a:t> The result of the execution is written back to a register or main memory.</a:t>
            </a:r>
            <a:endParaRPr sz="1017">
              <a:solidFill>
                <a:srgbClr val="000000"/>
              </a:solidFill>
            </a:endParaRPr>
          </a:p>
          <a:p>
            <a:pPr indent="-29321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Lato"/>
              <a:buChar char="○"/>
            </a:pPr>
            <a:r>
              <a:rPr lang="en-GB" sz="1017">
                <a:solidFill>
                  <a:srgbClr val="000000"/>
                </a:solidFill>
              </a:rPr>
              <a:t>The result is temporarily stored in an accumulator register and then moved to a more permanent location.</a:t>
            </a:r>
            <a:endParaRPr b="1" sz="1017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CPU Components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</a:rPr>
              <a:t>ALU (Arithmetic Logic Unit):</a:t>
            </a:r>
            <a:r>
              <a:rPr lang="en-GB" sz="1200">
                <a:solidFill>
                  <a:srgbClr val="000000"/>
                </a:solidFill>
              </a:rPr>
              <a:t> The core computational component.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Arithmetic Operations:</a:t>
            </a:r>
            <a:r>
              <a:rPr lang="en-GB" sz="1200">
                <a:solidFill>
                  <a:srgbClr val="000000"/>
                </a:solidFill>
              </a:rPr>
              <a:t> Addition, subtraction, multiplication, division.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Logical Operations:</a:t>
            </a:r>
            <a:r>
              <a:rPr lang="en-GB" sz="1200">
                <a:solidFill>
                  <a:srgbClr val="000000"/>
                </a:solidFill>
              </a:rPr>
              <a:t> AND, OR, NOT, XOR.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Comparison Operations:</a:t>
            </a:r>
            <a:r>
              <a:rPr lang="en-GB" sz="1200">
                <a:solidFill>
                  <a:srgbClr val="000000"/>
                </a:solidFill>
              </a:rPr>
              <a:t> Is equal to Y? Is X greater than Y?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</a:rPr>
              <a:t>Control Unit (CU):</a:t>
            </a:r>
            <a:r>
              <a:rPr lang="en-GB" sz="1200">
                <a:solidFill>
                  <a:srgbClr val="000000"/>
                </a:solidFill>
              </a:rPr>
              <a:t> The manager of the CPU.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000000"/>
                </a:solidFill>
              </a:rPr>
              <a:t>Fetches instructions from memory.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000000"/>
                </a:solidFill>
              </a:rPr>
              <a:t>Decodes instructions.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000000"/>
                </a:solidFill>
              </a:rPr>
              <a:t>Controls the flow of data between the CPU's components.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-GB" sz="1200">
                <a:solidFill>
                  <a:srgbClr val="000000"/>
                </a:solidFill>
              </a:rPr>
              <a:t>Generates the control signals to coordinate all actions.</a:t>
            </a:r>
            <a:endParaRPr b="1" sz="1117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CPU Components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Registers: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Small, high-speed memory locations directly within the CPU.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are the fastest form of memory available, much faster than RAM.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temporarily hold data and instructions while the CPU is actively processing them.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Registers - High-Speed Storage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</a:rPr>
              <a:t>Registers are physically located on the CPU chip itself.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</a:rPr>
              <a:t>They are used to hold: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-GB" sz="1400">
                <a:solidFill>
                  <a:srgbClr val="000000"/>
                </a:solidFill>
              </a:rPr>
              <a:t>Operands for the ALU (e.g., the two numbers to be added).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-GB" sz="1400">
                <a:solidFill>
                  <a:srgbClr val="000000"/>
                </a:solidFill>
              </a:rPr>
              <a:t>The result of a calculation.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-GB" sz="1400">
                <a:solidFill>
                  <a:srgbClr val="000000"/>
                </a:solidFill>
              </a:rPr>
              <a:t>Memory addresses.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</a:pPr>
            <a:r>
              <a:rPr lang="en-GB" sz="1400">
                <a:solidFill>
                  <a:srgbClr val="000000"/>
                </a:solidFill>
              </a:rPr>
              <a:t>The current instruction being executed.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vs. Special-Purpose Registers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General-Purpose Registers (GPRs):</a:t>
            </a:r>
            <a:r>
              <a:rPr lang="en-GB" sz="1200">
                <a:solidFill>
                  <a:srgbClr val="000000"/>
                </a:solidFill>
              </a:rPr>
              <a:t> Can be used for any temporary data storage during program execution. They are flexible and programmer-accessible.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 sz="1200">
                <a:solidFill>
                  <a:srgbClr val="000000"/>
                </a:solidFill>
              </a:rPr>
              <a:t>Examples:</a:t>
            </a:r>
            <a:r>
              <a:rPr lang="en-GB" sz="1200">
                <a:solidFill>
                  <a:srgbClr val="000000"/>
                </a:solidFill>
              </a:rPr>
              <a:t> In </a:t>
            </a:r>
            <a:r>
              <a:rPr lang="en-GB" sz="1200">
                <a:solidFill>
                  <a:srgbClr val="188038"/>
                </a:solidFill>
              </a:rPr>
              <a:t>x86</a:t>
            </a:r>
            <a:r>
              <a:rPr lang="en-GB" sz="1200">
                <a:solidFill>
                  <a:srgbClr val="000000"/>
                </a:solidFill>
              </a:rPr>
              <a:t> architecture, </a:t>
            </a:r>
            <a:r>
              <a:rPr lang="en-GB" sz="1200">
                <a:solidFill>
                  <a:srgbClr val="188038"/>
                </a:solidFill>
              </a:rPr>
              <a:t>EAX</a:t>
            </a:r>
            <a:r>
              <a:rPr lang="en-GB" sz="1200">
                <a:solidFill>
                  <a:srgbClr val="000000"/>
                </a:solidFill>
              </a:rPr>
              <a:t> (Accumulator), </a:t>
            </a:r>
            <a:r>
              <a:rPr lang="en-GB" sz="1200">
                <a:solidFill>
                  <a:srgbClr val="188038"/>
                </a:solidFill>
              </a:rPr>
              <a:t>EBX</a:t>
            </a:r>
            <a:r>
              <a:rPr lang="en-GB" sz="1200">
                <a:solidFill>
                  <a:srgbClr val="000000"/>
                </a:solidFill>
              </a:rPr>
              <a:t> (Base), </a:t>
            </a:r>
            <a:r>
              <a:rPr lang="en-GB" sz="1200">
                <a:solidFill>
                  <a:srgbClr val="188038"/>
                </a:solidFill>
              </a:rPr>
              <a:t>ECX</a:t>
            </a:r>
            <a:r>
              <a:rPr lang="en-GB" sz="1200">
                <a:solidFill>
                  <a:srgbClr val="000000"/>
                </a:solidFill>
              </a:rPr>
              <a:t> (Counter), and </a:t>
            </a:r>
            <a:r>
              <a:rPr lang="en-GB" sz="1200">
                <a:solidFill>
                  <a:srgbClr val="188038"/>
                </a:solidFill>
              </a:rPr>
              <a:t>EDX</a:t>
            </a:r>
            <a:r>
              <a:rPr lang="en-GB" sz="1200">
                <a:solidFill>
                  <a:srgbClr val="000000"/>
                </a:solidFill>
              </a:rPr>
              <a:t> (Data) are common GPRs. They can hold data or addresses.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Special-Purpose Registers (SPRs):</a:t>
            </a:r>
            <a:r>
              <a:rPr lang="en-GB" sz="1200">
                <a:solidFill>
                  <a:srgbClr val="000000"/>
                </a:solidFill>
              </a:rPr>
              <a:t> Have a specific, defined function and are essential for the fetch-execute cycle. They are not typically used by programmers for general data storage.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Buses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Buses:</a:t>
            </a:r>
            <a:r>
              <a:rPr lang="en-GB" sz="1200">
                <a:solidFill>
                  <a:srgbClr val="000000"/>
                </a:solidFill>
              </a:rPr>
              <a:t> A set of parallel wires or electronic pathways that connect the different components of a computer. Think of them as the highway system of the motherboard.</a:t>
            </a:r>
            <a:endParaRPr sz="12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Data Bus:</a:t>
            </a:r>
            <a:r>
              <a:rPr lang="en-GB" sz="1200">
                <a:solidFill>
                  <a:srgbClr val="000000"/>
                </a:solidFill>
              </a:rPr>
              <a:t> Carries the actual data between the CPU, memory, and I/O devices. It is bidirectional, meaning data can travel in both directions.</a:t>
            </a:r>
            <a:endParaRPr sz="12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Control Bus:</a:t>
            </a:r>
            <a:r>
              <a:rPr lang="en-GB" sz="1200">
                <a:solidFill>
                  <a:srgbClr val="000000"/>
                </a:solidFill>
              </a:rPr>
              <a:t> Carries control signals from the Control Unit to other components (e.g., signals to read or write data, interrupt signals, clock signals).</a:t>
            </a:r>
            <a:endParaRPr sz="12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Address Bus:</a:t>
            </a:r>
            <a:r>
              <a:rPr lang="en-GB" sz="1200">
                <a:solidFill>
                  <a:srgbClr val="000000"/>
                </a:solidFill>
              </a:rPr>
              <a:t> Carries the memory addresses of data or instructions to be accessed. It is unidirectional (from the CPU to memory or devices). The number of wires determines the maximum memory a system can address.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Special-Purpose Registers (Part 1)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MAR (Memory Address Register):</a:t>
            </a:r>
            <a:r>
              <a:rPr lang="en-GB" sz="1200">
                <a:solidFill>
                  <a:srgbClr val="000000"/>
                </a:solidFill>
              </a:rPr>
              <a:t> Holds the memory address of the instruction or data that is about to be accessed.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i="1" lang="en-GB" sz="1200">
                <a:solidFill>
                  <a:srgbClr val="000000"/>
                </a:solidFill>
              </a:rPr>
              <a:t>Analogy:</a:t>
            </a:r>
            <a:r>
              <a:rPr lang="en-GB" sz="1200">
                <a:solidFill>
                  <a:srgbClr val="000000"/>
                </a:solidFill>
              </a:rPr>
              <a:t> When a librarian goes to get a book, the MAR is the "shelf number" they write down.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-GB" sz="1200">
                <a:solidFill>
                  <a:srgbClr val="000000"/>
                </a:solidFill>
              </a:rPr>
              <a:t>MDR (Memory Data Register):</a:t>
            </a:r>
            <a:r>
              <a:rPr lang="en-GB" sz="1200">
                <a:solidFill>
                  <a:srgbClr val="000000"/>
                </a:solidFill>
              </a:rPr>
              <a:t> Holds the data or instruction that has been fetched from or is about to be written to memory.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i="1" lang="en-GB" sz="1200">
                <a:solidFill>
                  <a:srgbClr val="000000"/>
                </a:solidFill>
              </a:rPr>
              <a:t>Analogy:</a:t>
            </a:r>
            <a:r>
              <a:rPr lang="en-GB" sz="1200">
                <a:solidFill>
                  <a:srgbClr val="000000"/>
                </a:solidFill>
              </a:rPr>
              <a:t> The MDR is the "book itself" that the librarian carries to or from the shelf.</a:t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Special-Purpose Registers (Part 2)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PC (Program Counter):</a:t>
            </a:r>
            <a:r>
              <a:rPr lang="en-GB" sz="1200">
                <a:solidFill>
                  <a:srgbClr val="000000"/>
                </a:solidFill>
              </a:rPr>
              <a:t> Contains the memory address of the </a:t>
            </a:r>
            <a:r>
              <a:rPr i="1" lang="en-GB" sz="1200">
                <a:solidFill>
                  <a:srgbClr val="000000"/>
                </a:solidFill>
              </a:rPr>
              <a:t>next</a:t>
            </a:r>
            <a:r>
              <a:rPr lang="en-GB" sz="1200">
                <a:solidFill>
                  <a:srgbClr val="000000"/>
                </a:solidFill>
              </a:rPr>
              <a:t> instruction to be fetched.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-GB" sz="1200">
                <a:solidFill>
                  <a:srgbClr val="000000"/>
                </a:solidFill>
              </a:rPr>
              <a:t>After an instruction is fetched, the PC is automatically incremented to point to the next instruction in the sequence.</a:t>
            </a:r>
            <a:endParaRPr sz="12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</a:rPr>
              <a:t>CIR (Current Instruction Register):</a:t>
            </a:r>
            <a:r>
              <a:rPr lang="en-GB" sz="1200">
                <a:solidFill>
                  <a:srgbClr val="000000"/>
                </a:solidFill>
              </a:rPr>
              <a:t> A temporary store for the instruction that has just been fetched from memory and is about to be decoded by the Control Unit.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Motherboard Layout Basics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Motherboard: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main circuit board of a computer. All components plug into it, forming a connected system.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Components on the Motherboard: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Socket: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physical connector for the CPU.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 Slots: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Connectors for the main system memory (RAM).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Expansion Slots (e.g., PCIe):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adding extra components like graphics cards, network cards, or SSDs.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Chipset: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set of integrated circuits that manage the flow of data between the CPU and other components. It acts as a central hub.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BIOS/UEFI Chip: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Stores the firmware that controls basic hardware functions and initiates the boot process.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Formats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>
                <a:solidFill>
                  <a:srgbClr val="000000"/>
                </a:solidFill>
              </a:rPr>
              <a:t>Instruction Set:</a:t>
            </a:r>
            <a:r>
              <a:rPr lang="en-GB">
                <a:solidFill>
                  <a:srgbClr val="000000"/>
                </a:solidFill>
              </a:rPr>
              <a:t> The complete set of commands or instructions that a specific CPU can understand and execute. Each CPU family has its own unique instruction set.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>
                <a:solidFill>
                  <a:srgbClr val="000000"/>
                </a:solidFill>
              </a:rPr>
              <a:t>Formats:</a:t>
            </a:r>
            <a:r>
              <a:rPr lang="en-GB">
                <a:solidFill>
                  <a:srgbClr val="000000"/>
                </a:solidFill>
              </a:rPr>
              <a:t> Instructions are formatted in binary code. A typical format includes:</a:t>
            </a:r>
            <a:endParaRPr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GB" sz="1300">
                <a:solidFill>
                  <a:srgbClr val="000000"/>
                </a:solidFill>
              </a:rPr>
              <a:t>Opcode (Operation Code):</a:t>
            </a:r>
            <a:r>
              <a:rPr lang="en-GB" sz="1300">
                <a:solidFill>
                  <a:srgbClr val="000000"/>
                </a:solidFill>
              </a:rPr>
              <a:t> Specifies the action to be performed (e.g., </a:t>
            </a:r>
            <a:r>
              <a:rPr lang="en-GB" sz="1300">
                <a:solidFill>
                  <a:srgbClr val="188038"/>
                </a:solidFill>
              </a:rPr>
              <a:t>ADD</a:t>
            </a:r>
            <a:r>
              <a:rPr lang="en-GB" sz="1300">
                <a:solidFill>
                  <a:srgbClr val="000000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</a:rPr>
              <a:t>SUB</a:t>
            </a:r>
            <a:r>
              <a:rPr lang="en-GB" sz="1300">
                <a:solidFill>
                  <a:srgbClr val="000000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</a:rPr>
              <a:t>JUMP</a:t>
            </a:r>
            <a:r>
              <a:rPr lang="en-GB" sz="1300">
                <a:solidFill>
                  <a:srgbClr val="000000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</a:rPr>
              <a:t>LOAD</a:t>
            </a:r>
            <a:r>
              <a:rPr lang="en-GB" sz="1300">
                <a:solidFill>
                  <a:srgbClr val="000000"/>
                </a:solidFill>
              </a:rPr>
              <a:t>).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rgbClr val="000000"/>
                </a:solidFill>
              </a:rPr>
              <a:t>Operand(s):</a:t>
            </a:r>
            <a:r>
              <a:rPr lang="en-GB" sz="1300">
                <a:solidFill>
                  <a:srgbClr val="000000"/>
                </a:solidFill>
              </a:rPr>
              <a:t> The data or memory addresses that the instruction will operate on. An instruction can have zero, one, or more operands.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Instruction Formats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Zero-address:</a:t>
            </a:r>
            <a:r>
              <a:rPr lang="en-GB" sz="1100">
                <a:solidFill>
                  <a:srgbClr val="000000"/>
                </a:solidFill>
              </a:rPr>
              <a:t> Operates on data from a stack. The operands are implicitly on top of the stack. Example: </a:t>
            </a:r>
            <a:r>
              <a:rPr lang="en-GB" sz="1100">
                <a:solidFill>
                  <a:srgbClr val="188038"/>
                </a:solidFill>
              </a:rPr>
              <a:t>ADD</a:t>
            </a:r>
            <a:r>
              <a:rPr lang="en-GB" sz="1100">
                <a:solidFill>
                  <a:srgbClr val="000000"/>
                </a:solidFill>
              </a:rPr>
              <a:t> (Pops the top two items from the stack, adds them, and pushes the result back on the stack).</a:t>
            </a:r>
            <a:endParaRPr sz="11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One-address:</a:t>
            </a:r>
            <a:r>
              <a:rPr lang="en-GB" sz="1100">
                <a:solidFill>
                  <a:srgbClr val="000000"/>
                </a:solidFill>
              </a:rPr>
              <a:t> Uses an accumulator register. Example: </a:t>
            </a:r>
            <a:r>
              <a:rPr lang="en-GB" sz="1100">
                <a:solidFill>
                  <a:srgbClr val="188038"/>
                </a:solidFill>
              </a:rPr>
              <a:t>ADD X</a:t>
            </a:r>
            <a:r>
              <a:rPr lang="en-GB" sz="1100">
                <a:solidFill>
                  <a:srgbClr val="000000"/>
                </a:solidFill>
              </a:rPr>
              <a:t> (adds the value at memory address </a:t>
            </a:r>
            <a:r>
              <a:rPr lang="en-GB" sz="1100">
                <a:solidFill>
                  <a:srgbClr val="188038"/>
                </a:solidFill>
              </a:rPr>
              <a:t>X</a:t>
            </a:r>
            <a:r>
              <a:rPr lang="en-GB" sz="1100">
                <a:solidFill>
                  <a:srgbClr val="000000"/>
                </a:solidFill>
              </a:rPr>
              <a:t> to the accumulator).</a:t>
            </a:r>
            <a:endParaRPr sz="11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Two-address:</a:t>
            </a:r>
            <a:r>
              <a:rPr lang="en-GB" sz="1100">
                <a:solidFill>
                  <a:srgbClr val="000000"/>
                </a:solidFill>
              </a:rPr>
              <a:t> Specifies two operands. The result is stored in one of the operand locations. Example: </a:t>
            </a:r>
            <a:r>
              <a:rPr lang="en-GB" sz="1100">
                <a:solidFill>
                  <a:srgbClr val="188038"/>
                </a:solidFill>
              </a:rPr>
              <a:t>MOV AX, BX</a:t>
            </a:r>
            <a:r>
              <a:rPr lang="en-GB" sz="1100">
                <a:solidFill>
                  <a:srgbClr val="000000"/>
                </a:solidFill>
              </a:rPr>
              <a:t> (moves the value from register </a:t>
            </a:r>
            <a:r>
              <a:rPr lang="en-GB" sz="1100">
                <a:solidFill>
                  <a:srgbClr val="188038"/>
                </a:solidFill>
              </a:rPr>
              <a:t>BX</a:t>
            </a:r>
            <a:r>
              <a:rPr lang="en-GB" sz="1100">
                <a:solidFill>
                  <a:srgbClr val="000000"/>
                </a:solidFill>
              </a:rPr>
              <a:t> to </a:t>
            </a:r>
            <a:r>
              <a:rPr lang="en-GB" sz="1100">
                <a:solidFill>
                  <a:srgbClr val="188038"/>
                </a:solidFill>
              </a:rPr>
              <a:t>AX</a:t>
            </a:r>
            <a:r>
              <a:rPr lang="en-GB" sz="1100">
                <a:solidFill>
                  <a:srgbClr val="000000"/>
                </a:solidFill>
              </a:rPr>
              <a:t>).</a:t>
            </a:r>
            <a:endParaRPr sz="11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Three-address:</a:t>
            </a:r>
            <a:r>
              <a:rPr lang="en-GB" sz="1100">
                <a:solidFill>
                  <a:srgbClr val="000000"/>
                </a:solidFill>
              </a:rPr>
              <a:t> Specifies two source operands and a destination operand. Example: </a:t>
            </a:r>
            <a:r>
              <a:rPr lang="en-GB" sz="1100">
                <a:solidFill>
                  <a:srgbClr val="188038"/>
                </a:solidFill>
              </a:rPr>
              <a:t>ADD R1, R2, R3</a:t>
            </a:r>
            <a:r>
              <a:rPr lang="en-GB" sz="1100">
                <a:solidFill>
                  <a:srgbClr val="000000"/>
                </a:solidFill>
              </a:rPr>
              <a:t> (adds the values in registers </a:t>
            </a:r>
            <a:r>
              <a:rPr lang="en-GB" sz="1100">
                <a:solidFill>
                  <a:srgbClr val="188038"/>
                </a:solidFill>
              </a:rPr>
              <a:t>R2</a:t>
            </a:r>
            <a:r>
              <a:rPr lang="en-GB" sz="1100">
                <a:solidFill>
                  <a:srgbClr val="000000"/>
                </a:solidFill>
              </a:rPr>
              <a:t> and </a:t>
            </a:r>
            <a:r>
              <a:rPr lang="en-GB" sz="1100">
                <a:solidFill>
                  <a:srgbClr val="188038"/>
                </a:solidFill>
              </a:rPr>
              <a:t>R3</a:t>
            </a:r>
            <a:r>
              <a:rPr lang="en-GB" sz="1100">
                <a:solidFill>
                  <a:srgbClr val="000000"/>
                </a:solidFill>
              </a:rPr>
              <a:t>, then stores the result in register </a:t>
            </a:r>
            <a:r>
              <a:rPr lang="en-GB" sz="1100">
                <a:solidFill>
                  <a:srgbClr val="188038"/>
                </a:solidFill>
              </a:rPr>
              <a:t>R1</a:t>
            </a:r>
            <a:r>
              <a:rPr lang="en-GB" sz="1100">
                <a:solidFill>
                  <a:srgbClr val="000000"/>
                </a:solidFill>
              </a:rPr>
              <a:t>).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Execution Walkthrough - Step 1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</a:rPr>
              <a:t>Task:</a:t>
            </a:r>
            <a:r>
              <a:rPr lang="en-GB" sz="1400">
                <a:solidFill>
                  <a:srgbClr val="000000"/>
                </a:solidFill>
              </a:rPr>
              <a:t> Execute the instruction </a:t>
            </a:r>
            <a:r>
              <a:rPr lang="en-GB" sz="1400">
                <a:solidFill>
                  <a:srgbClr val="188038"/>
                </a:solidFill>
              </a:rPr>
              <a:t>LOAD 100</a:t>
            </a:r>
            <a:r>
              <a:rPr lang="en-GB" sz="1400">
                <a:solidFill>
                  <a:srgbClr val="000000"/>
                </a:solidFill>
              </a:rPr>
              <a:t> (load the value at memory address </a:t>
            </a:r>
            <a:r>
              <a:rPr lang="en-GB" sz="1400">
                <a:solidFill>
                  <a:srgbClr val="188038"/>
                </a:solidFill>
              </a:rPr>
              <a:t>100</a:t>
            </a:r>
            <a:r>
              <a:rPr lang="en-GB" sz="1400">
                <a:solidFill>
                  <a:srgbClr val="000000"/>
                </a:solidFill>
              </a:rPr>
              <a:t> into a register).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eriod"/>
            </a:pPr>
            <a:r>
              <a:rPr b="1" lang="en-GB" sz="1400">
                <a:solidFill>
                  <a:srgbClr val="000000"/>
                </a:solidFill>
              </a:rPr>
              <a:t>Fetch:</a:t>
            </a: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</a:rPr>
              <a:t>The </a:t>
            </a:r>
            <a:r>
              <a:rPr b="1" lang="en-GB" sz="1400">
                <a:solidFill>
                  <a:srgbClr val="000000"/>
                </a:solidFill>
              </a:rPr>
              <a:t>PC</a:t>
            </a:r>
            <a:r>
              <a:rPr lang="en-GB" sz="1400">
                <a:solidFill>
                  <a:srgbClr val="000000"/>
                </a:solidFill>
              </a:rPr>
              <a:t> holds the address of the </a:t>
            </a:r>
            <a:r>
              <a:rPr lang="en-GB" sz="1400">
                <a:solidFill>
                  <a:srgbClr val="188038"/>
                </a:solidFill>
              </a:rPr>
              <a:t>LOAD 100</a:t>
            </a:r>
            <a:r>
              <a:rPr lang="en-GB" sz="1400">
                <a:solidFill>
                  <a:srgbClr val="000000"/>
                </a:solidFill>
              </a:rPr>
              <a:t> instruction. Let's say it's at address </a:t>
            </a:r>
            <a:r>
              <a:rPr lang="en-GB" sz="1400">
                <a:solidFill>
                  <a:srgbClr val="188038"/>
                </a:solidFill>
              </a:rPr>
              <a:t>500</a:t>
            </a:r>
            <a:r>
              <a:rPr lang="en-GB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</a:rPr>
              <a:t>The address </a:t>
            </a:r>
            <a:r>
              <a:rPr lang="en-GB" sz="1400">
                <a:solidFill>
                  <a:srgbClr val="188038"/>
                </a:solidFill>
              </a:rPr>
              <a:t>500</a:t>
            </a:r>
            <a:r>
              <a:rPr lang="en-GB" sz="1400">
                <a:solidFill>
                  <a:srgbClr val="000000"/>
                </a:solidFill>
              </a:rPr>
              <a:t> is copied from the </a:t>
            </a:r>
            <a:r>
              <a:rPr b="1" lang="en-GB" sz="1400">
                <a:solidFill>
                  <a:srgbClr val="000000"/>
                </a:solidFill>
              </a:rPr>
              <a:t>PC</a:t>
            </a:r>
            <a:r>
              <a:rPr lang="en-GB" sz="1400">
                <a:solidFill>
                  <a:srgbClr val="000000"/>
                </a:solidFill>
              </a:rPr>
              <a:t> to the </a:t>
            </a:r>
            <a:r>
              <a:rPr b="1" lang="en-GB" sz="1400">
                <a:solidFill>
                  <a:srgbClr val="000000"/>
                </a:solidFill>
              </a:rPr>
              <a:t>MAR</a:t>
            </a:r>
            <a:r>
              <a:rPr lang="en-GB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</a:rPr>
              <a:t>The </a:t>
            </a:r>
            <a:r>
              <a:rPr b="1" lang="en-GB" sz="1400">
                <a:solidFill>
                  <a:srgbClr val="000000"/>
                </a:solidFill>
              </a:rPr>
              <a:t>Control Unit</a:t>
            </a:r>
            <a:r>
              <a:rPr lang="en-GB" sz="1400">
                <a:solidFill>
                  <a:srgbClr val="000000"/>
                </a:solidFill>
              </a:rPr>
              <a:t> sends a "read" signal to memory.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</a:rPr>
              <a:t>The instruction at address </a:t>
            </a:r>
            <a:r>
              <a:rPr lang="en-GB" sz="1400">
                <a:solidFill>
                  <a:srgbClr val="188038"/>
                </a:solidFill>
              </a:rPr>
              <a:t>500</a:t>
            </a:r>
            <a:r>
              <a:rPr lang="en-GB" sz="1400">
                <a:solidFill>
                  <a:srgbClr val="000000"/>
                </a:solidFill>
              </a:rPr>
              <a:t> (</a:t>
            </a:r>
            <a:r>
              <a:rPr lang="en-GB" sz="1400">
                <a:solidFill>
                  <a:srgbClr val="188038"/>
                </a:solidFill>
              </a:rPr>
              <a:t>LOAD 100</a:t>
            </a:r>
            <a:r>
              <a:rPr lang="en-GB" sz="1400">
                <a:solidFill>
                  <a:srgbClr val="000000"/>
                </a:solidFill>
              </a:rPr>
              <a:t>) is fetched and moved from main memory to the </a:t>
            </a:r>
            <a:r>
              <a:rPr b="1" lang="en-GB" sz="1400">
                <a:solidFill>
                  <a:srgbClr val="000000"/>
                </a:solidFill>
              </a:rPr>
              <a:t>MDR</a:t>
            </a:r>
            <a:r>
              <a:rPr lang="en-GB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</a:rPr>
              <a:t>The </a:t>
            </a:r>
            <a:r>
              <a:rPr b="1" lang="en-GB" sz="1400">
                <a:solidFill>
                  <a:srgbClr val="000000"/>
                </a:solidFill>
              </a:rPr>
              <a:t>PC</a:t>
            </a:r>
            <a:r>
              <a:rPr lang="en-GB" sz="1400">
                <a:solidFill>
                  <a:srgbClr val="000000"/>
                </a:solidFill>
              </a:rPr>
              <a:t> is incremented to </a:t>
            </a:r>
            <a:r>
              <a:rPr lang="en-GB" sz="1400">
                <a:solidFill>
                  <a:srgbClr val="188038"/>
                </a:solidFill>
              </a:rPr>
              <a:t>501</a:t>
            </a:r>
            <a:r>
              <a:rPr lang="en-GB" sz="1400">
                <a:solidFill>
                  <a:srgbClr val="000000"/>
                </a:solidFill>
              </a:rPr>
              <a:t>, pointing to the next instruction.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7591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Execution Walkthrough - Step 2 &amp; 3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729450" y="2052950"/>
            <a:ext cx="7688700" cy="28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</a:rPr>
              <a:t>2. Decode:</a:t>
            </a:r>
            <a:endParaRPr b="1" sz="14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content of the </a:t>
            </a:r>
            <a:r>
              <a:rPr b="1" lang="en-GB" sz="1100">
                <a:solidFill>
                  <a:srgbClr val="000000"/>
                </a:solidFill>
              </a:rPr>
              <a:t>MDR</a:t>
            </a:r>
            <a:r>
              <a:rPr lang="en-GB" sz="1100">
                <a:solidFill>
                  <a:srgbClr val="000000"/>
                </a:solidFill>
              </a:rPr>
              <a:t> (</a:t>
            </a:r>
            <a:r>
              <a:rPr lang="en-GB" sz="1100">
                <a:solidFill>
                  <a:srgbClr val="188038"/>
                </a:solidFill>
              </a:rPr>
              <a:t>LOAD 100</a:t>
            </a:r>
            <a:r>
              <a:rPr lang="en-GB" sz="1100">
                <a:solidFill>
                  <a:srgbClr val="000000"/>
                </a:solidFill>
              </a:rPr>
              <a:t>) is moved to the </a:t>
            </a:r>
            <a:r>
              <a:rPr b="1" lang="en-GB" sz="1100">
                <a:solidFill>
                  <a:srgbClr val="000000"/>
                </a:solidFill>
              </a:rPr>
              <a:t>CIR</a:t>
            </a:r>
            <a:r>
              <a:rPr lang="en-GB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</a:t>
            </a:r>
            <a:r>
              <a:rPr b="1" lang="en-GB" sz="1100">
                <a:solidFill>
                  <a:srgbClr val="000000"/>
                </a:solidFill>
              </a:rPr>
              <a:t>Control Unit</a:t>
            </a:r>
            <a:r>
              <a:rPr lang="en-GB" sz="1100">
                <a:solidFill>
                  <a:srgbClr val="000000"/>
                </a:solidFill>
              </a:rPr>
              <a:t> decodes the instruction. It identifies the </a:t>
            </a:r>
            <a:r>
              <a:rPr b="1" lang="en-GB" sz="1100">
                <a:solidFill>
                  <a:srgbClr val="000000"/>
                </a:solidFill>
              </a:rPr>
              <a:t>Opcode</a:t>
            </a:r>
            <a:r>
              <a:rPr lang="en-GB" sz="1100">
                <a:solidFill>
                  <a:srgbClr val="000000"/>
                </a:solidFill>
              </a:rPr>
              <a:t> as </a:t>
            </a:r>
            <a:r>
              <a:rPr lang="en-GB" sz="1100">
                <a:solidFill>
                  <a:srgbClr val="188038"/>
                </a:solidFill>
              </a:rPr>
              <a:t>LOAD</a:t>
            </a:r>
            <a:r>
              <a:rPr lang="en-GB" sz="1100">
                <a:solidFill>
                  <a:srgbClr val="000000"/>
                </a:solidFill>
              </a:rPr>
              <a:t> and the </a:t>
            </a:r>
            <a:r>
              <a:rPr b="1" lang="en-GB" sz="1100">
                <a:solidFill>
                  <a:srgbClr val="000000"/>
                </a:solidFill>
              </a:rPr>
              <a:t>Operand</a:t>
            </a:r>
            <a:r>
              <a:rPr lang="en-GB" sz="1100">
                <a:solidFill>
                  <a:srgbClr val="000000"/>
                </a:solidFill>
              </a:rPr>
              <a:t> as the memory address </a:t>
            </a:r>
            <a:r>
              <a:rPr lang="en-GB" sz="1100">
                <a:solidFill>
                  <a:srgbClr val="188038"/>
                </a:solidFill>
              </a:rPr>
              <a:t>100</a:t>
            </a:r>
            <a:r>
              <a:rPr lang="en-GB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</a:rPr>
              <a:t>3. Execute:</a:t>
            </a:r>
            <a:endParaRPr b="1" sz="14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</a:t>
            </a:r>
            <a:r>
              <a:rPr b="1" lang="en-GB" sz="1100">
                <a:solidFill>
                  <a:srgbClr val="000000"/>
                </a:solidFill>
              </a:rPr>
              <a:t>Control Unit</a:t>
            </a:r>
            <a:r>
              <a:rPr lang="en-GB" sz="1100">
                <a:solidFill>
                  <a:srgbClr val="000000"/>
                </a:solidFill>
              </a:rPr>
              <a:t> sends the operand address </a:t>
            </a:r>
            <a:r>
              <a:rPr lang="en-GB" sz="1100">
                <a:solidFill>
                  <a:srgbClr val="188038"/>
                </a:solidFill>
              </a:rPr>
              <a:t>100</a:t>
            </a:r>
            <a:r>
              <a:rPr lang="en-GB" sz="1100">
                <a:solidFill>
                  <a:srgbClr val="000000"/>
                </a:solidFill>
              </a:rPr>
              <a:t> to the </a:t>
            </a:r>
            <a:r>
              <a:rPr b="1" lang="en-GB" sz="1100">
                <a:solidFill>
                  <a:srgbClr val="000000"/>
                </a:solidFill>
              </a:rPr>
              <a:t>MAR</a:t>
            </a:r>
            <a:r>
              <a:rPr lang="en-GB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A "read" signal is sent to memory.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value stored at memory address </a:t>
            </a:r>
            <a:r>
              <a:rPr lang="en-GB" sz="1100">
                <a:solidFill>
                  <a:srgbClr val="188038"/>
                </a:solidFill>
              </a:rPr>
              <a:t>100</a:t>
            </a:r>
            <a:r>
              <a:rPr lang="en-GB" sz="1100">
                <a:solidFill>
                  <a:srgbClr val="000000"/>
                </a:solidFill>
              </a:rPr>
              <a:t> is moved from memory to the </a:t>
            </a:r>
            <a:r>
              <a:rPr b="1" lang="en-GB" sz="1100">
                <a:solidFill>
                  <a:srgbClr val="000000"/>
                </a:solidFill>
              </a:rPr>
              <a:t>MDR</a:t>
            </a:r>
            <a:r>
              <a:rPr lang="en-GB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This value from the </a:t>
            </a:r>
            <a:r>
              <a:rPr b="1" lang="en-GB" sz="1100">
                <a:solidFill>
                  <a:srgbClr val="000000"/>
                </a:solidFill>
              </a:rPr>
              <a:t>MDR</a:t>
            </a:r>
            <a:r>
              <a:rPr lang="en-GB" sz="1100">
                <a:solidFill>
                  <a:srgbClr val="000000"/>
                </a:solidFill>
              </a:rPr>
              <a:t> is then moved into a general-purpose register, like the Accumulator, completing the operation.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