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embeddedFontLst>
    <p:embeddedFont>
      <p:font typeface="Economica" panose="020B0604020202020204" charset="0"/>
      <p:regular r:id="rId65"/>
      <p:bold r:id="rId66"/>
      <p:italic r:id="rId67"/>
      <p:boldItalic r:id="rId68"/>
    </p:embeddedFont>
    <p:embeddedFont>
      <p:font typeface="Open Sans" panose="020B0606030504020204" pitchFamily="3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11A333-DAB2-491F-B2D8-FE0A73490767}">
  <a:tblStyle styleId="{4B11A333-DAB2-491F-B2D8-FE0A734907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954b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954b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999c4636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999c4636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3e8feee3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3e8feee3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999c4636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999c4636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999c4636f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999c4636f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3e8feee3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3e8feee3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3e8feee3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3e8feee3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999c4636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999c4636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999c4636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999c4636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999c4636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999c4636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999c4636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999c4636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3e8feee3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3e8feee3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3e8feee3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3e8feee3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3e8feee3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3e8feee3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999c4636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999c4636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a bus is a common communication pathway in a computer system, only one device can transmit data at a time. Arbitration ensures that devices take turns efficiently and fairly, preventing data collisions.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72ccb51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72ccb51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72ccb51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72ccb51f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72ccb51f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72ccb51f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72ccb51f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72ccb51f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72ccb51f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72ccb51f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72ccb51f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72ccb51f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72ccb51f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72ccb51f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72ccb51f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72ccb51f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72ccb51f4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72ccb51f4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72ccb51f4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72ccb51f4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72ccb51f4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72ccb51f4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72ccb51f4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72ccb51f4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72ccb51f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72ccb51f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72ccb51f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72ccb51f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72ccb51f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72ccb51f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72ccb51f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72ccb51f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72ccb51f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472ccb51f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72ccb51f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72ccb51f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72ccb51f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472ccb51f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72ccb51f4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72ccb51f4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72ccb51f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72ccb51f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72ccb51f4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72ccb51f4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72ccb51f4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472ccb51f4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72ccb51f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72ccb51f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472ccb51f4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472ccb51f4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72ccb51f4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472ccb51f4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4987b833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4987b833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987b833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987b833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987b833e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4987b833e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987b833e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4987b833e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987b833e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987b833e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4987b833e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4987b833e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4987b833e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4987b833e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4987b833e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4987b833e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4987b833e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4987b833e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987b833e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4987b833e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987b833e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4987b833e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4987b833e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4987b833e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4987b833e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4987b833e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4e1a8e64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4e1a8e64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4e1a8e64b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4e1a8e64b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e1a8e64b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4e1a8e64b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e1a8e64b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4e1a8e64b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4e1a8e64b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4e1a8e64b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4e1a8e64b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4e1a8e64b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4e1a8e64b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4e1a8e64b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3999c4636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3999c4636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333200" y="978325"/>
            <a:ext cx="4670700" cy="2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Organization and Architecture</a:t>
            </a:r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1594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 of computer organization and architecture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Importance of understanding computer history and structure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Computer?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1594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computer is an electronic machine that processes information.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can perform tasks like calculations, storing data, and running programs.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Smartphones, Laptops, Gaming Consoles.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Computers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106625"/>
            <a:ext cx="8520600" cy="3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Early Computers: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computers were large machines that used vacuum tubes.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could only do simple calculations.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Evolution Over Time: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Transistors replaced vacuum tubes, making computers smaller and faster.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Microprocessors allowed personal computers to be created.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Today, computers use AI and quantum computing to solve complex problems.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Generations of Computers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106625"/>
            <a:ext cx="8520600" cy="38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First Generation (1940s - 1950s)</a:t>
            </a:r>
            <a:endParaRPr sz="1600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vacuum tubes.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Very large and expensive.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Example: ENIAC.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Second Generation (1950s - 1960s)</a:t>
            </a:r>
            <a:endParaRPr sz="1600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transistors (smaller and more reliable).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Faster than vacuum tube computers.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Example: IBM 1401.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Generations of Computers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06625"/>
            <a:ext cx="8520600" cy="38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Third Generation (1960s - 1970s)</a:t>
            </a:r>
            <a:endParaRPr sz="1600" b="1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Used integrated circuits (ICs).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Smaller, faster, and cheaper.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Example: IBM System/360.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b="1"/>
              <a:t>Fourth Generation (1970s - Present)</a:t>
            </a:r>
            <a:endParaRPr sz="1600" b="1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Uses microprocessors (a whole CPU on a single chip).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Personal computers became popular.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Example: Intel 4004, Apple Macintosh.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Generations of Computers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06625"/>
            <a:ext cx="8520600" cy="38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Fifth Generation (Present &amp; Future)</a:t>
            </a:r>
            <a:endParaRPr sz="1600" b="1"/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Uses AI and quantum computing.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Focuses on automation and high-speed processing.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Example: Supercomputers, AI-based processors.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How Does a Computer Work?</a:t>
            </a:r>
            <a:endParaRPr sz="3600"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/>
              <a:t>Basic Parts of a Computer:</a:t>
            </a:r>
            <a:endParaRPr sz="1700" b="1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Input Devices – Keyboard, Mouse, Touchscreen.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Processing Unit – CPU (Brain of the Computer).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Storage – RAM (Temporary Memory) and Hard Drive (Permanent Memory).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Output Devices – Monitor, Printer, Speakers.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 b="1"/>
              <a:t>Computer Operations:</a:t>
            </a:r>
            <a:endParaRPr sz="1700" b="1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Input → Processing → Storage → Output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Example: Typing a document → Computer processes text → Saves in memory → Displays on the screen.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Architecture vs. Organization</a:t>
            </a:r>
            <a:endParaRPr/>
          </a:p>
        </p:txBody>
      </p:sp>
      <p:graphicFrame>
        <p:nvGraphicFramePr>
          <p:cNvPr id="111" name="Google Shape;111;p21"/>
          <p:cNvGraphicFramePr/>
          <p:nvPr/>
        </p:nvGraphicFramePr>
        <p:xfrm>
          <a:off x="581925" y="16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{4B11A333-DAB2-491F-B2D8-FE0A73490767}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Feature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Computer Architecture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Computer Organisation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Definition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design and function of a computer system.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way a computer's hardware is built.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Focus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 a computer </a:t>
                      </a:r>
                      <a:r>
                        <a:rPr lang="en" b="1"/>
                        <a:t>can</a:t>
                      </a:r>
                      <a:r>
                        <a:rPr lang="en"/>
                        <a:t> do.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a computer </a:t>
                      </a:r>
                      <a:r>
                        <a:rPr lang="en" b="1"/>
                        <a:t>does</a:t>
                      </a:r>
                      <a:r>
                        <a:rPr lang="en"/>
                        <a:t> it.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Example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Types of instructions, memory addressing.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CPU design, buses, connections.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is a Bus in a Computer?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0325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 bus is like a road that carries data between different parts of a computer.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It connects the CPU, memory, and other devices.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Example: When you press a key, data travels through a bus to the CPU.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Types of Buses: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Address Bus – Sends memory addresses.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Data Bus – Carries actual data.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Control Bus – Sends signals for controlling devices.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6648" y="2527300"/>
            <a:ext cx="2076450" cy="13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189925"/>
            <a:ext cx="85206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00"/>
              <a:t>Common Bus Systems</a:t>
            </a:r>
            <a:endParaRPr sz="4100"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852300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Industry Standard Architecture (ISA)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oldest computer bus systems.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in early IBM PCs.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Slow compared to modern buses.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Used for connecting floppy disk controllers and early sound cards.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311700" y="189925"/>
            <a:ext cx="85206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00"/>
              <a:t>Common Bus Systems</a:t>
            </a:r>
            <a:endParaRPr sz="4100"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311700" y="852300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Peripheral Component Interconnect (PCI)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faster and more flexible bus standard.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in desktop computers for connecting hardware like graphics cards and sound cards.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Modern PCI Express (PCIe) is used for high-speed graphics and SSDs.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311700" y="189925"/>
            <a:ext cx="85206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00"/>
              <a:t>Common Bus Systems</a:t>
            </a:r>
            <a:endParaRPr sz="4100"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311700" y="852300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Universal Serial Bus (USB)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common bus for connecting external devices.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keyboards, mice, flash drives, and external hard drives.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plug-and-play functionality.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USB 3.0 provides fast data transfer speeds.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00" y="189925"/>
            <a:ext cx="85206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100"/>
              <a:t>Common Bus Systems</a:t>
            </a:r>
            <a:endParaRPr sz="4100"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852300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Advanced Microcontroller Bus Architecture (AMBA)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mainly in mobile devices and embedded systems.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for low power consumption and efficiency.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Used in smartphones and tablets to connect components like processors and cameras.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Buses Work</a:t>
            </a:r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656200" cy="3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How Do Buses Help Computers?</a:t>
            </a:r>
            <a:endParaRPr sz="1500" b="1"/>
          </a:p>
          <a:p>
            <a:pPr marL="457200" lvl="0" indent="-3238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Transfer Information Quickly – Like a highway moving cars.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Allow Communication Between Parts – CPU, Memory, and Hard Drive all talk using buses.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Control How Data Moves – Prevents two devices from sending data at the same time.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b="1"/>
              <a:t>Bus Arbitration (Who Goes First?)</a:t>
            </a:r>
            <a:endParaRPr sz="1600"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 b="1"/>
              <a:t>Definition:</a:t>
            </a:r>
            <a:r>
              <a:rPr lang="en" sz="1500"/>
              <a:t> The process of deciding which device gets to use the shared bus when multiple devices request access at the same time.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Daisy Chaining: Devices take turns based on priority.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Polling: The CPU asks each device if it needs to send data.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Independent Request: Each device sends a request, and the CPU decides who goes first.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Buses Work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7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Bus Arbitration (Who Goes First?)</a:t>
            </a:r>
            <a:endParaRPr sz="1900"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 b="1"/>
              <a:t>Daisy Chaining:</a:t>
            </a:r>
            <a:endParaRPr sz="1700" b="1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Devices take turns based on priority.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highest-priority device gets access first.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Example: Some older bus systems use this method for selecting devices.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 b="1"/>
              <a:t>Polling:</a:t>
            </a:r>
            <a:endParaRPr sz="1700" b="1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CPU asks each device in sequence if it needs to send data.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Simple but slow because it cycles through all devices.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Example: USB devices may use polling for communication with the CPU.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Buses Work</a:t>
            </a:r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7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Bus Arbitration (Who Goes First?)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 b="1"/>
              <a:t>Independent Request: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Each device sends a request to the bus controller.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bus controller decides who goes first based on priority and fairness.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Example: Modern PCIe buses use this method for fast and efficient communication.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/>
              <a:t>Time Division Multiplexing (TDM):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Each device gets a fixed time slot to send data.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Reduces waiting time but may waste time slots if a device has nothing to send.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Example: Some real-time systems use TDM to ensure predictable data transfer.</a:t>
            </a:r>
            <a:endParaRPr sz="1500"/>
          </a:p>
          <a:p>
            <a:pPr marL="45720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Buses Work</a:t>
            </a:r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Bus Arbitration (Who Goes First?)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 b="1"/>
              <a:t>Priority Arbitration:</a:t>
            </a:r>
            <a:endParaRPr sz="17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Devices have assigned priority levels.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High-priority devices can interrupt lower-priority ones.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Example: Used in high-speed buses like PCI Express to manage data traffic efficiently.</a:t>
            </a:r>
            <a:endParaRPr sz="17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/>
          </a:p>
          <a:p>
            <a:pPr marL="45720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Buses Work</a:t>
            </a: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Bus Arbitration (Who Goes First?)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 b="1"/>
              <a:t>Priority Arbitration:</a:t>
            </a:r>
            <a:endParaRPr sz="17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Devices have assigned priority levels.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High-priority devices can interrupt lower-priority ones.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Example: Used in high-speed buses like PCI Express to manage data traffic efficiently.</a:t>
            </a:r>
            <a:endParaRPr sz="17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/>
          </a:p>
          <a:p>
            <a:pPr marL="45720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Memory</a:t>
            </a:r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6017700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Types of Memory:</a:t>
            </a:r>
            <a:endParaRPr sz="1700"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" sz="1700"/>
              <a:t>RAM (Random Access Memory): Temporary storage for running programs.</a:t>
            </a:r>
            <a:endParaRPr sz="17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" sz="1700"/>
              <a:t>ROM (Read-Only Memory): Permanent memory that holds startup instructions.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Flash Memory: Used in USB drives and SSDs.</a:t>
            </a:r>
            <a:endParaRPr sz="17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" sz="1700"/>
              <a:t>Virtual Memory: A part of the hard drive used as extra RAM.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Cache Memory: High-speed memory close to the CPU that stores frequently used data for quick access.</a:t>
            </a:r>
            <a:endParaRPr sz="1700"/>
          </a:p>
        </p:txBody>
      </p:sp>
      <p:pic>
        <p:nvPicPr>
          <p:cNvPr id="179" name="Google Shape;179;p32"/>
          <p:cNvPicPr preferRelativeResize="0"/>
          <p:nvPr/>
        </p:nvPicPr>
        <p:blipFill rotWithShape="1">
          <a:blip r:embed="rId3">
            <a:alphaModFix/>
          </a:blip>
          <a:srcRect l="-2899" t="-15870" r="2900" b="15869"/>
          <a:stretch/>
        </p:blipFill>
        <p:spPr>
          <a:xfrm>
            <a:off x="6230425" y="1225225"/>
            <a:ext cx="2509800" cy="154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900" y="3107573"/>
            <a:ext cx="1924720" cy="12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1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1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100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100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100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100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100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100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100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100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100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100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Memory</a:t>
            </a:r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200" b="1"/>
              <a:t>Memory Building Blocks:</a:t>
            </a:r>
            <a:endParaRPr sz="22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Bits &amp; Bytes: Smallest units of data storage.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Memory Cells: Store 1s and 0s (binary data).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Memory Modules: Groups of memory chips (e.g., Double Data Rate (DDR)  RAM).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Memory Banks: Organized storage areas for faster access.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Memory Controllers: Manage data flow between memory and CPU.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Memory Addressing: Determines how data locations are identified and accessed by the CPU.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5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</a:t>
            </a:r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3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/>
              <a:t>Definition</a:t>
            </a:r>
            <a:r>
              <a:rPr lang="en" sz="1600"/>
              <a:t>: Small, fast memory locations inside the CPU.</a:t>
            </a:r>
            <a:endParaRPr sz="1600"/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However, it is a small device that can hold only one word of data.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one-word data is a standard data unit.</a:t>
            </a:r>
            <a:br>
              <a:rPr lang="en" sz="1600"/>
            </a:br>
            <a:r>
              <a:rPr lang="en" sz="1600"/>
              <a:t>In most the it is a 8-bit word i.e., byte</a:t>
            </a:r>
            <a:endParaRPr sz="16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/>
              <a:t>Purpose:</a:t>
            </a:r>
            <a:r>
              <a:rPr lang="en" sz="1600"/>
              <a:t> Store instructions and data for quick processing.</a:t>
            </a:r>
            <a:endParaRPr sz="16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/>
              <a:t>Types of Registers:</a:t>
            </a:r>
            <a:endParaRPr sz="1600" b="1"/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Accumulator(ACC)</a:t>
            </a:r>
            <a:r>
              <a:rPr lang="en" sz="1600"/>
              <a:t>: Holds arithmetic calculations.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Instruction Register(IR)</a:t>
            </a:r>
            <a:r>
              <a:rPr lang="en" sz="1600"/>
              <a:t>: Stores current instruction.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Stack Pointer(SP)</a:t>
            </a:r>
            <a:r>
              <a:rPr lang="en" sz="1600"/>
              <a:t>: Keeps track of function calls.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/>
              <a:t>Program Counter(PC)</a:t>
            </a:r>
            <a:r>
              <a:rPr lang="en" sz="1600"/>
              <a:t>: Tracks the next instruction to be executed.</a:t>
            </a:r>
            <a:endParaRPr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1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00"/>
                                        <p:tgtEl>
                                          <p:spTgt spid="1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 Memory</a:t>
            </a:r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3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/>
              <a:t>Definition</a:t>
            </a:r>
            <a:r>
              <a:rPr lang="en" sz="1500"/>
              <a:t>: A small, high-speed memory close to the CPU that stores frequently used data and instructions.</a:t>
            </a:r>
            <a:endParaRPr sz="15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/>
              <a:t>Levels:</a:t>
            </a:r>
            <a:endParaRPr sz="1500" b="1"/>
          </a:p>
          <a:p>
            <a:pPr marL="457200" lvl="0" indent="-323850" algn="l" rtl="0">
              <a:spcBef>
                <a:spcPts val="14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L1 (Level 1): Smallest and fastest, built into the CPU.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L2 (Level 2): Larger, slightly slower, on or near the CPU.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L3 (Level 3): Largest, slowest, shared among multiple cores.</a:t>
            </a:r>
            <a:endParaRPr sz="15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/>
              <a:t>Cache Replacement Policies:</a:t>
            </a:r>
            <a:endParaRPr sz="1500" b="1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/>
              <a:t>Least Recently Used (LRU):</a:t>
            </a:r>
            <a:r>
              <a:rPr lang="en" sz="1500"/>
              <a:t> Removes the least-used data.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/>
              <a:t>First In, First Out (FIFO):</a:t>
            </a:r>
            <a:r>
              <a:rPr lang="en" sz="1500"/>
              <a:t> Removes oldest stored data.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/>
              <a:t>Random Replacement:</a:t>
            </a:r>
            <a:r>
              <a:rPr lang="en" sz="1500"/>
              <a:t> Replaces data randomly when full.</a:t>
            </a:r>
            <a:endParaRPr sz="1500"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9825" y="3014973"/>
            <a:ext cx="1924720" cy="12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00"/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 Memory</a:t>
            </a:r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2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b="1"/>
              <a:t>Definition</a:t>
            </a:r>
            <a:r>
              <a:rPr lang="en" sz="1400"/>
              <a:t>: A small, high-speed memory close to the CPU that stores frequently used data and instructions.</a:t>
            </a:r>
            <a:endParaRPr sz="14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b="1"/>
              <a:t>Example: </a:t>
            </a:r>
            <a:r>
              <a:rPr lang="en" sz="1400"/>
              <a:t>If the CPU needs the same data multiple times (such as a value in a mathematical calculation), it will fetch that data from the cache rather than searching through slower RAM or storage.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sp>
        <p:nvSpPr>
          <p:cNvPr id="206" name="Google Shape;206;p36"/>
          <p:cNvSpPr txBox="1"/>
          <p:nvPr/>
        </p:nvSpPr>
        <p:spPr>
          <a:xfrm>
            <a:off x="4764225" y="2917025"/>
            <a:ext cx="39027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Cache Replacement Policies: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Least Recently Used (LRU):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Removes the least-used data.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First In, First Out (FIFO):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Removes oldest stored data.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Random Replacement: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Replaces data randomly when full.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36"/>
          <p:cNvSpPr txBox="1"/>
          <p:nvPr/>
        </p:nvSpPr>
        <p:spPr>
          <a:xfrm>
            <a:off x="455975" y="2917025"/>
            <a:ext cx="4081800" cy="1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Levels: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L1 (Level 1): Smallest and fastest, built into the CPU.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L2 (Level 2): Larger, slightly slower, on or near the CPU.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L3 (Level 3): Largest, slowest, shared among multiple cores.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 vs Cache Memory </a:t>
            </a:r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32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/>
              <a:t>Difference Between Cache and Register</a:t>
            </a:r>
            <a:endParaRPr sz="1600"/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 explain in simple words, Registers store the data before processing, and Cache Memory stores the data after progressing.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050" y="2628775"/>
            <a:ext cx="7096232" cy="22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775" y="508625"/>
            <a:ext cx="5147400" cy="41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549" y="681575"/>
            <a:ext cx="6462699" cy="41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Memory</a:t>
            </a:r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3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External memory</a:t>
            </a:r>
            <a:r>
              <a:rPr lang="en"/>
              <a:t> refers to devices that store data outside the main computer system.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/>
              <a:t>These devices are used for </a:t>
            </a:r>
            <a:r>
              <a:rPr lang="en" b="1"/>
              <a:t>long-term data storage</a:t>
            </a:r>
            <a:r>
              <a:rPr lang="en"/>
              <a:t> and can be easily added or removed from the system.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Types of external memory</a:t>
            </a:r>
            <a:r>
              <a:rPr lang="en"/>
              <a:t> include hard disks, optical drives, and solid-state drives.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Device Characteristics</a:t>
            </a:r>
            <a:endParaRPr/>
          </a:p>
        </p:txBody>
      </p:sp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3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Key Characteristics to Consider: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Capacity:</a:t>
            </a:r>
            <a:r>
              <a:rPr lang="en"/>
              <a:t> How much data the device can hold.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Speed:</a:t>
            </a:r>
            <a:r>
              <a:rPr lang="en"/>
              <a:t> How quickly data can be read or written.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Durability:</a:t>
            </a:r>
            <a:r>
              <a:rPr lang="en"/>
              <a:t> How long the device lasts.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Portability:</a:t>
            </a:r>
            <a:r>
              <a:rPr lang="en"/>
              <a:t> How easily the device can be moved or connected.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Cost:</a:t>
            </a:r>
            <a:r>
              <a:rPr lang="en"/>
              <a:t> How affordable the device is.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Device Characteristics</a:t>
            </a:r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8409900" cy="3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latin typeface="Arial"/>
                <a:ea typeface="Arial"/>
                <a:cs typeface="Arial"/>
                <a:sym typeface="Arial"/>
              </a:rPr>
              <a:t>Selecting a Storage Device: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Depending on the need (speed, capacity, portability), you choose the right storage device.</a:t>
            </a:r>
            <a:br>
              <a:rPr lang="en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Example: For large data storage, </a:t>
            </a:r>
            <a:r>
              <a:rPr lang="en" sz="1900" b="1">
                <a:latin typeface="Arial"/>
                <a:ea typeface="Arial"/>
                <a:cs typeface="Arial"/>
                <a:sym typeface="Arial"/>
              </a:rPr>
              <a:t>external hard disks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are selected, while for fast access and durability, </a:t>
            </a:r>
            <a:r>
              <a:rPr lang="en" sz="1900" b="1">
                <a:latin typeface="Arial"/>
                <a:ea typeface="Arial"/>
                <a:cs typeface="Arial"/>
                <a:sym typeface="Arial"/>
              </a:rPr>
              <a:t>SSDs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are preferred.</a:t>
            </a:r>
            <a:endParaRPr sz="19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 Disk Storage</a:t>
            </a:r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body" idx="1"/>
          </p:nvPr>
        </p:nvSpPr>
        <p:spPr>
          <a:xfrm>
            <a:off x="367050" y="1147225"/>
            <a:ext cx="5055000" cy="3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Definition:</a:t>
            </a:r>
            <a:r>
              <a:rPr lang="en" sz="1700"/>
              <a:t> Hard Disk Drives (HDDs) are mechanical storage devices that use spinning disks to read/write data.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How it Works:</a:t>
            </a:r>
            <a:r>
              <a:rPr lang="en" sz="1700"/>
              <a:t> A moving read/write head accesses data on the spinning platters.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Advantages:</a:t>
            </a:r>
            <a:r>
              <a:rPr lang="en" sz="1700"/>
              <a:t> Larger storage capacities at lower prices.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Disadvantages:</a:t>
            </a:r>
            <a:r>
              <a:rPr lang="en" sz="1700"/>
              <a:t> Slower speeds compared to SSDs and more prone to physical damage.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Example:</a:t>
            </a:r>
            <a:r>
              <a:rPr lang="en" sz="1700"/>
              <a:t> HDDs are commonly used for desktop storage or backup drives.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b="1"/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725" y="315925"/>
            <a:ext cx="2856350" cy="285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3"/>
          <p:cNvSpPr txBox="1"/>
          <p:nvPr/>
        </p:nvSpPr>
        <p:spPr>
          <a:xfrm>
            <a:off x="5772000" y="3394800"/>
            <a:ext cx="3272700" cy="1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How to Use:</a:t>
            </a:r>
            <a:endParaRPr sz="17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Simply connect the HDD to the computer using a USB port.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Magnetic Storage</a:t>
            </a:r>
            <a:endParaRPr/>
          </a:p>
        </p:txBody>
      </p:sp>
      <p:sp>
        <p:nvSpPr>
          <p:cNvPr id="256" name="Google Shape;256;p44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39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Definition:</a:t>
            </a:r>
            <a:r>
              <a:rPr lang="en" sz="1700"/>
              <a:t> Magnetic storage uses magnetic fields to write and read data.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How it Works:</a:t>
            </a:r>
            <a:r>
              <a:rPr lang="en" sz="1700"/>
              <a:t> Data is stored on a magnetized medium (e.g., tape or hard disk platter).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 b="1"/>
              <a:t>Types of Magnetic Storage:</a:t>
            </a:r>
            <a:endParaRPr sz="17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 b="1"/>
              <a:t>Floppy Disks:</a:t>
            </a:r>
            <a:r>
              <a:rPr lang="en" sz="1700"/>
              <a:t> Outdated, but historically used for transferring data.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 b="1"/>
              <a:t>Magnetic Tapes:</a:t>
            </a:r>
            <a:r>
              <a:rPr lang="en" sz="1700"/>
              <a:t> Used for backup and archiving due to their large storage capacity.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 b="1"/>
              <a:t>Hard Disk Drives (HDDs):</a:t>
            </a:r>
            <a:r>
              <a:rPr lang="en" sz="1700"/>
              <a:t> As described above.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Advantages of Magnetic Storage:</a:t>
            </a:r>
            <a:endParaRPr sz="17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Cost-effective for large storage.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Durable with proper handling.</a:t>
            </a:r>
            <a:endParaRPr sz="23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2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2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2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00"/>
                                        <p:tgtEl>
                                          <p:spTgt spid="2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>
            <a:spLocks noGrp="1"/>
          </p:cNvSpPr>
          <p:nvPr>
            <p:ph type="title"/>
          </p:nvPr>
        </p:nvSpPr>
        <p:spPr>
          <a:xfrm>
            <a:off x="311700" y="211650"/>
            <a:ext cx="8520600" cy="7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Optical Mass Storage Devices</a:t>
            </a:r>
            <a:endParaRPr/>
          </a:p>
        </p:txBody>
      </p:sp>
      <p:pic>
        <p:nvPicPr>
          <p:cNvPr id="262" name="Google Shape;26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250" y="3476250"/>
            <a:ext cx="1611725" cy="15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5"/>
          <p:cNvSpPr txBox="1">
            <a:spLocks noGrp="1"/>
          </p:cNvSpPr>
          <p:nvPr>
            <p:ph type="body" idx="1"/>
          </p:nvPr>
        </p:nvSpPr>
        <p:spPr>
          <a:xfrm>
            <a:off x="399600" y="911850"/>
            <a:ext cx="8520600" cy="38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Definition:</a:t>
            </a:r>
            <a:r>
              <a:rPr lang="en" sz="1700"/>
              <a:t> Optical storage uses light (lasers) to read and write data on discs.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Types of Optical Storage Devices:</a:t>
            </a:r>
            <a:endParaRPr sz="1700" b="1"/>
          </a:p>
          <a:p>
            <a:pPr marL="914400" lvl="1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 b="1"/>
              <a:t>CDs (Compact Discs):</a:t>
            </a:r>
            <a:r>
              <a:rPr lang="en" sz="1700"/>
              <a:t> Typically store music or small files.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 b="1"/>
              <a:t>DVDs (Digital Versatile Discs):</a:t>
            </a:r>
            <a:r>
              <a:rPr lang="en" sz="1700"/>
              <a:t> Can store larger files like videos or software.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 b="1"/>
              <a:t>Blu-ray Discs:</a:t>
            </a:r>
            <a:r>
              <a:rPr lang="en" sz="1700"/>
              <a:t> Higher capacity, used for high-definition video storage.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How it Works:</a:t>
            </a:r>
            <a:r>
              <a:rPr lang="en" sz="1700"/>
              <a:t> A laser reads or writes data to/from the disc surface.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Advantages of Optical Storage:</a:t>
            </a:r>
            <a:endParaRPr sz="17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Relatively cheap and easy to mass-produce.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Good for archiving data.</a:t>
            </a:r>
            <a:endParaRPr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2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00"/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 State Disk (SSD)</a:t>
            </a:r>
            <a:endParaRPr/>
          </a:p>
        </p:txBody>
      </p:sp>
      <p:pic>
        <p:nvPicPr>
          <p:cNvPr id="269" name="Google Shape;26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875" y="122047"/>
            <a:ext cx="3337325" cy="233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6"/>
          <p:cNvSpPr txBox="1">
            <a:spLocks noGrp="1"/>
          </p:cNvSpPr>
          <p:nvPr>
            <p:ph type="body" idx="1"/>
          </p:nvPr>
        </p:nvSpPr>
        <p:spPr>
          <a:xfrm>
            <a:off x="311700" y="1058300"/>
            <a:ext cx="5388600" cy="39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Definition:</a:t>
            </a:r>
            <a:r>
              <a:rPr lang="en"/>
              <a:t> SSDs are storage devices that use </a:t>
            </a:r>
            <a:r>
              <a:rPr lang="en" b="1"/>
              <a:t>flash memory</a:t>
            </a:r>
            <a:r>
              <a:rPr lang="en"/>
              <a:t> to store data.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How it Works:</a:t>
            </a:r>
            <a:r>
              <a:rPr lang="en"/>
              <a:t> Data is stored in </a:t>
            </a:r>
            <a:r>
              <a:rPr lang="en" b="1"/>
              <a:t>non-volatile flash memory chips</a:t>
            </a:r>
            <a:r>
              <a:rPr lang="en"/>
              <a:t> instead of spinning disks.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Advantages:</a:t>
            </a:r>
            <a:r>
              <a:rPr lang="en"/>
              <a:t> Faster than HDDs, more durable, and quieter.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Disadvantages:</a:t>
            </a:r>
            <a:r>
              <a:rPr lang="en"/>
              <a:t> Higher cost per GB compared to HDDs.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Example:</a:t>
            </a:r>
            <a:r>
              <a:rPr lang="en"/>
              <a:t> Used in modern laptops and high-performance desktops.</a:t>
            </a:r>
            <a:endParaRPr b="1"/>
          </a:p>
        </p:txBody>
      </p:sp>
      <p:sp>
        <p:nvSpPr>
          <p:cNvPr id="271" name="Google Shape;271;p46"/>
          <p:cNvSpPr txBox="1"/>
          <p:nvPr/>
        </p:nvSpPr>
        <p:spPr>
          <a:xfrm>
            <a:off x="5803800" y="2571750"/>
            <a:ext cx="3028500" cy="23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How to Use:</a:t>
            </a:r>
            <a:endParaRPr sz="18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Simply connect the SSD to the computer using a USB or internal connection.</a:t>
            </a:r>
            <a:endParaRPr sz="18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Non-Volatile Memory Express:(NVMe)</a:t>
            </a:r>
            <a:endParaRPr/>
          </a:p>
        </p:txBody>
      </p:sp>
      <p:pic>
        <p:nvPicPr>
          <p:cNvPr id="277" name="Google Shape;2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7725" y="1131575"/>
            <a:ext cx="23145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7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6276000" cy="3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Font typeface="Open Sans"/>
              <a:buChar char="●"/>
            </a:pPr>
            <a:r>
              <a:rPr lang="en" sz="1600" b="1"/>
              <a:t>Definition</a:t>
            </a:r>
            <a:r>
              <a:rPr lang="en" sz="1600"/>
              <a:t>: NVMe is a </a:t>
            </a:r>
            <a:r>
              <a:rPr lang="en" sz="1600" b="1"/>
              <a:t>protocol</a:t>
            </a:r>
            <a:r>
              <a:rPr lang="en" sz="1600"/>
              <a:t> designed to enable faster communication between the CPU and storage devices (like SSDs) through the </a:t>
            </a:r>
            <a:r>
              <a:rPr lang="en" sz="1600" b="1"/>
              <a:t>PCIe (Peripheral Component Interconnect Express)</a:t>
            </a:r>
            <a:r>
              <a:rPr lang="en" sz="1600"/>
              <a:t> interface.</a:t>
            </a:r>
            <a:br>
              <a:rPr lang="en" sz="1600"/>
            </a:br>
            <a:endParaRPr sz="16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Open Sans"/>
              <a:buChar char="●"/>
            </a:pPr>
            <a:r>
              <a:rPr lang="en" sz="1600" b="1"/>
              <a:t>How it Works</a:t>
            </a:r>
            <a:r>
              <a:rPr lang="en" sz="1600"/>
              <a:t>: NVMe uses the high-speed PCIe bus to access storage devices directly, which significantly speeds up data transfer compared to older storage protocols like </a:t>
            </a:r>
            <a:r>
              <a:rPr lang="en" sz="1600" b="1"/>
              <a:t>SATA</a:t>
            </a:r>
            <a:r>
              <a:rPr lang="en" sz="1600"/>
              <a:t>.</a:t>
            </a:r>
            <a:br>
              <a:rPr lang="en" sz="1600"/>
            </a:br>
            <a:endParaRPr sz="16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Open Sans"/>
              <a:buChar char="●"/>
            </a:pPr>
            <a:r>
              <a:rPr lang="en" sz="1600" b="1"/>
              <a:t>Example</a:t>
            </a:r>
            <a:r>
              <a:rPr lang="en" sz="1600"/>
              <a:t>: NVMe SSDs are used for high-speed storage in gaming PCs, workstations, and enterprise systems.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1738" y="2987775"/>
            <a:ext cx="2206550" cy="15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SSD vs NVMe</a:t>
            </a:r>
            <a:endParaRPr/>
          </a:p>
        </p:txBody>
      </p:sp>
      <p:sp>
        <p:nvSpPr>
          <p:cNvPr id="285" name="Google Shape;285;p48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3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b="1"/>
              <a:t>Key Differences:</a:t>
            </a:r>
            <a:endParaRPr sz="2000"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SSD</a:t>
            </a:r>
            <a:r>
              <a:rPr lang="en"/>
              <a:t> refers to the </a:t>
            </a:r>
            <a:r>
              <a:rPr lang="en" b="1"/>
              <a:t>type of storage</a:t>
            </a:r>
            <a:r>
              <a:rPr lang="en"/>
              <a:t> device, while </a:t>
            </a:r>
            <a:r>
              <a:rPr lang="en" b="1"/>
              <a:t>NVMe</a:t>
            </a:r>
            <a:r>
              <a:rPr lang="en"/>
              <a:t> refers to the </a:t>
            </a:r>
            <a:r>
              <a:rPr lang="en" b="1"/>
              <a:t>communication protocol</a:t>
            </a:r>
            <a:r>
              <a:rPr lang="en"/>
              <a:t> that makes SSDs faster.</a:t>
            </a:r>
            <a:br>
              <a:rPr lang="en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All NVMe drives are SSDs</a:t>
            </a:r>
            <a:r>
              <a:rPr lang="en"/>
              <a:t>, but not all SSDs are NVMe. Some SSDs use the older </a:t>
            </a:r>
            <a:r>
              <a:rPr lang="en" b="1"/>
              <a:t>SATA</a:t>
            </a:r>
            <a:r>
              <a:rPr lang="en"/>
              <a:t> interface (which is slower than PCIe).</a:t>
            </a:r>
            <a:endParaRPr sz="25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Memory Configuration Technologies</a:t>
            </a:r>
            <a:endParaRPr/>
          </a:p>
        </p:txBody>
      </p:sp>
      <p:sp>
        <p:nvSpPr>
          <p:cNvPr id="291" name="Google Shape;291;p49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3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/>
              <a:t>Types of Configurations:</a:t>
            </a:r>
            <a:endParaRPr sz="2000"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2000" b="1"/>
              <a:t>RAID (Redundant Array of Independent Disks):</a:t>
            </a:r>
            <a:r>
              <a:rPr lang="en" sz="2000"/>
              <a:t> Combines multiple drives for improved performance or data redundancy.</a:t>
            </a:r>
            <a:endParaRPr sz="20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2000" b="1"/>
              <a:t>NAS (Network Attached Storage):</a:t>
            </a:r>
            <a:r>
              <a:rPr lang="en" sz="2000"/>
              <a:t> A server that provides external storage over a network.</a:t>
            </a:r>
            <a:endParaRPr sz="20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2000" b="1"/>
              <a:t>Cloud Storage: </a:t>
            </a:r>
            <a:r>
              <a:rPr lang="en" sz="2000"/>
              <a:t>Remote servers store your data, accessible via the internet.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RAID (Redundant Array of Independent Disks)</a:t>
            </a:r>
            <a:endParaRPr/>
          </a:p>
        </p:txBody>
      </p:sp>
      <p:sp>
        <p:nvSpPr>
          <p:cNvPr id="297" name="Google Shape;297;p50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3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What is RAID?</a:t>
            </a:r>
            <a:endParaRPr sz="1300"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Open Sans"/>
              <a:buChar char="●"/>
            </a:pPr>
            <a:r>
              <a:rPr lang="en" sz="1300"/>
              <a:t>Combines multiple hard drives or SSDs into a single storage unit for increased speed, redundancy, or both.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How Does RAID Work?</a:t>
            </a:r>
            <a:endParaRPr sz="1300"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Open Sans"/>
              <a:buChar char="●"/>
            </a:pPr>
            <a:r>
              <a:rPr lang="en" sz="1300"/>
              <a:t>Data is distributed across drives in different ways.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Open Sans"/>
              <a:buChar char="●"/>
            </a:pPr>
            <a:r>
              <a:rPr lang="en" sz="1300" b="1"/>
              <a:t>Common RAID Levels:</a:t>
            </a:r>
            <a:endParaRPr sz="1300" b="1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" sz="1300" b="1"/>
              <a:t>RAID 0 (Striping):</a:t>
            </a:r>
            <a:r>
              <a:rPr lang="en" sz="1300"/>
              <a:t> Increases speed, but no redundancy.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" sz="1300" b="1"/>
              <a:t>RAID 1 (Mirroring):</a:t>
            </a:r>
            <a:r>
              <a:rPr lang="en" sz="1300"/>
              <a:t> Provides redundancy by duplicating data.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" sz="1300" b="1"/>
              <a:t>RAID 5 (Striping with Parity):</a:t>
            </a:r>
            <a:r>
              <a:rPr lang="en" sz="1300"/>
              <a:t> Balances speed and redundancy.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" sz="1300" b="1"/>
              <a:t>RAID 10 (1+0):</a:t>
            </a:r>
            <a:r>
              <a:rPr lang="en" sz="1300"/>
              <a:t> Combines RAID 1 and RAID 0 for high performance and redundancy.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Example Use Case:</a:t>
            </a:r>
            <a:endParaRPr sz="1300" b="1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RAID 5 is often used in servers for </a:t>
            </a:r>
            <a:r>
              <a:rPr lang="en" sz="1300" b="1"/>
              <a:t>speed</a:t>
            </a:r>
            <a:r>
              <a:rPr lang="en" sz="1300"/>
              <a:t> and </a:t>
            </a:r>
            <a:r>
              <a:rPr lang="en" sz="1300" b="1"/>
              <a:t>data protection</a:t>
            </a:r>
            <a:r>
              <a:rPr lang="en" sz="1300"/>
              <a:t>.</a:t>
            </a:r>
            <a:endParaRPr sz="22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2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00"/>
                                        <p:tgtEl>
                                          <p:spTgt spid="2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100"/>
                                        <p:tgtEl>
                                          <p:spTgt spid="2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100"/>
                                        <p:tgtEl>
                                          <p:spTgt spid="2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1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NAS (Network Attached Storage)</a:t>
            </a:r>
            <a:endParaRPr/>
          </a:p>
        </p:txBody>
      </p:sp>
      <p:sp>
        <p:nvSpPr>
          <p:cNvPr id="303" name="Google Shape;303;p51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3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What is NAS?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A device that connects to a network and provides shared storage for multiple users.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How Does NAS Work?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Acts as a </a:t>
            </a:r>
            <a:r>
              <a:rPr lang="en" sz="1400" b="1"/>
              <a:t>centralized storage device</a:t>
            </a:r>
            <a:r>
              <a:rPr lang="en" sz="1400"/>
              <a:t> accessible by multiple devices over a network (LAN).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Often includes </a:t>
            </a:r>
            <a:r>
              <a:rPr lang="en" sz="1400" b="1"/>
              <a:t>RAID</a:t>
            </a:r>
            <a:r>
              <a:rPr lang="en" sz="1400"/>
              <a:t> support for increased data protection and speed.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Benefits of NAS: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Centralized Storage</a:t>
            </a:r>
            <a:r>
              <a:rPr lang="en" sz="1400"/>
              <a:t>: All files stored in one location, accessible from multiple devices.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Data Redundancy</a:t>
            </a:r>
            <a:r>
              <a:rPr lang="en" sz="1400"/>
              <a:t>: Many NAS devices use RAID for data protection.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Example Use Case: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Used in </a:t>
            </a:r>
            <a:r>
              <a:rPr lang="en" sz="1400" b="1"/>
              <a:t>small businesses</a:t>
            </a:r>
            <a:r>
              <a:rPr lang="en" sz="1400"/>
              <a:t> for file sharing and in homes for </a:t>
            </a:r>
            <a:r>
              <a:rPr lang="en" sz="1400" b="1"/>
              <a:t>media storage</a:t>
            </a:r>
            <a:r>
              <a:rPr lang="en" sz="1400"/>
              <a:t>.</a:t>
            </a:r>
            <a:endParaRPr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3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100"/>
                                        <p:tgtEl>
                                          <p:spTgt spid="3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100"/>
                                        <p:tgtEl>
                                          <p:spTgt spid="3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100"/>
                                        <p:tgtEl>
                                          <p:spTgt spid="3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2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Storage</a:t>
            </a:r>
            <a:endParaRPr/>
          </a:p>
        </p:txBody>
      </p:sp>
      <p:sp>
        <p:nvSpPr>
          <p:cNvPr id="309" name="Google Shape;309;p52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4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What is Cloud Storage?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A remote storage service accessible over the internet, hosted by a service provider.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How Does Cloud Storage Work?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Data is stored on remote servers and accessed via the internet from any connected device.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Popular Cloud Services: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Google Drive</a:t>
            </a:r>
            <a:r>
              <a:rPr lang="en"/>
              <a:t>, </a:t>
            </a:r>
            <a:r>
              <a:rPr lang="en" b="1"/>
              <a:t>Dropbox</a:t>
            </a:r>
            <a:r>
              <a:rPr lang="en"/>
              <a:t>, </a:t>
            </a:r>
            <a:r>
              <a:rPr lang="en" b="1"/>
              <a:t>OneDrive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>
            <a:spLocks noGrp="1"/>
          </p:cNvSpPr>
          <p:nvPr>
            <p:ph type="title"/>
          </p:nvPr>
        </p:nvSpPr>
        <p:spPr>
          <a:xfrm>
            <a:off x="311700" y="227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Storage</a:t>
            </a:r>
            <a:endParaRPr/>
          </a:p>
        </p:txBody>
      </p:sp>
      <p:sp>
        <p:nvSpPr>
          <p:cNvPr id="315" name="Google Shape;315;p53"/>
          <p:cNvSpPr txBox="1">
            <a:spLocks noGrp="1"/>
          </p:cNvSpPr>
          <p:nvPr>
            <p:ph type="body" idx="1"/>
          </p:nvPr>
        </p:nvSpPr>
        <p:spPr>
          <a:xfrm>
            <a:off x="367050" y="1058300"/>
            <a:ext cx="8409900" cy="35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Benefits of Cloud Storage: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Easy Access</a:t>
            </a:r>
            <a:r>
              <a:rPr lang="en"/>
              <a:t>: Available anytime and anywhere with internet.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Scalable</a:t>
            </a:r>
            <a:r>
              <a:rPr lang="en"/>
              <a:t>: Pay only for the amount of storage you need.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Data Backup</a:t>
            </a:r>
            <a:r>
              <a:rPr lang="en"/>
              <a:t>: Provides off-site backup to prevent data loss from local failures.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Example Use Case: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b="1"/>
              <a:t>Individuals</a:t>
            </a:r>
            <a:r>
              <a:rPr lang="en"/>
              <a:t> use it for file storage, and </a:t>
            </a:r>
            <a:r>
              <a:rPr lang="en" b="1"/>
              <a:t>businesses</a:t>
            </a:r>
            <a:r>
              <a:rPr lang="en"/>
              <a:t> use it for remote work and data backup.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100"/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00"/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"/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Operating System Support</a:t>
            </a:r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/>
              <a:t>I/O Modules</a:t>
            </a:r>
            <a:endParaRPr sz="2400" b="1"/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" sz="2200"/>
              <a:t>Connect external devices to the CPU and memory.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" sz="2200"/>
              <a:t>Control and manage the transfer of data.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" sz="2200"/>
              <a:t>Example: Keyboard controller, disk controller.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9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Interrupts</a:t>
            </a:r>
            <a:endParaRPr sz="4000"/>
          </a:p>
        </p:txBody>
      </p:sp>
      <p:sp>
        <p:nvSpPr>
          <p:cNvPr id="327" name="Google Shape;327;p5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An </a:t>
            </a:r>
            <a:r>
              <a:rPr lang="en" sz="1700" b="1"/>
              <a:t>interrupt</a:t>
            </a:r>
            <a:r>
              <a:rPr lang="en" sz="1700"/>
              <a:t> is a signal that temporarily stops a running program so the CPU can attend to something urgent.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Example: You click a mouse — the CPU pauses what it’s doing to process the click.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/>
              <a:t>Helps manage multiple tasks efficiently.</a:t>
            </a:r>
            <a:endParaRPr sz="3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Interrupts</a:t>
            </a:r>
            <a:endParaRPr sz="4000"/>
          </a:p>
        </p:txBody>
      </p:sp>
      <p:sp>
        <p:nvSpPr>
          <p:cNvPr id="333" name="Google Shape;333;p5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An </a:t>
            </a:r>
            <a:r>
              <a:rPr lang="en" sz="1400" b="1"/>
              <a:t>interrupt</a:t>
            </a:r>
            <a:r>
              <a:rPr lang="en" sz="1400"/>
              <a:t> is a signal that temporarily stops a running program so the CPU can attend to something urgent.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Types of Interrupts: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Hardware Interrupts: From external devices (keyboard, mouse, etc.).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Software Interrupts: Generated by programs or the operating system.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Timer Interrupts: Triggered at regular intervals to manage tasks.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Example: 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</a:pPr>
            <a:r>
              <a:rPr lang="en"/>
              <a:t>You click a mouse — the CPU pauses what it’s doing to process the click.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A game requests to save progress → software interrupt tells the OS to access the disk.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While typing in a document, your computer automatically checks for software updates in the background.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Helps manage multiple tasks efficiently.</a:t>
            </a:r>
            <a:endParaRPr sz="27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Interrupts</a:t>
            </a:r>
            <a:endParaRPr sz="4000"/>
          </a:p>
        </p:txBody>
      </p:sp>
      <p:sp>
        <p:nvSpPr>
          <p:cNvPr id="339" name="Google Shape;339;p5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An </a:t>
            </a:r>
            <a:r>
              <a:rPr lang="en" sz="1400" b="1"/>
              <a:t>interrupt</a:t>
            </a:r>
            <a:r>
              <a:rPr lang="en" sz="1400"/>
              <a:t> is a signal that temporarily stops a running program so the CPU can attend to something urgent.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Types of Interrupts: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Hardware Interrupts: From external devices (keyboard, mouse, etc.).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Software Interrupts: Generated by programs or the operating system.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Timer Interrupts: Triggered at regular intervals to manage tasks.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Example: 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</a:pPr>
            <a:r>
              <a:rPr lang="en"/>
              <a:t>You click a mouse — the CPU pauses what it’s doing to process the click.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A game requests to save progress → software interrupt tells the OS to access the disk.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While typing in a document, your computer automatically checks for software updates in the background.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Helps manage multiple tasks efficiently.</a:t>
            </a:r>
            <a:endParaRPr sz="27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Direct Memory Access (DMA)</a:t>
            </a:r>
            <a:endParaRPr sz="3900"/>
          </a:p>
        </p:txBody>
      </p:sp>
      <p:sp>
        <p:nvSpPr>
          <p:cNvPr id="345" name="Google Shape;345;p5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" sz="2100"/>
              <a:t>Allows devices to send/receive data to/from memory without CPU involvement.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" sz="2100"/>
              <a:t>Improves speed by freeing the CPU.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Open Sans"/>
              <a:buChar char="●"/>
            </a:pPr>
            <a:r>
              <a:rPr lang="en" sz="2100"/>
              <a:t>Example: Transferring data from a hard drive to RAM.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Direct Memory Access (DMA)</a:t>
            </a:r>
            <a:endParaRPr sz="3900"/>
          </a:p>
        </p:txBody>
      </p:sp>
      <p:sp>
        <p:nvSpPr>
          <p:cNvPr id="351" name="Google Shape;351;p5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Definition: A method that allows devices to transfer data directly to/from memory without involving the CPU.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How DMA Works: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A device like a hard drive or network card sends a DMA request to the memory controller.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The controller grants access and data is transferred directly between the device and memory.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The CPU is only notified once the transfer is complete (via an interrupt).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Direct Memory Access (DMA)</a:t>
            </a:r>
            <a:endParaRPr sz="3900"/>
          </a:p>
        </p:txBody>
      </p:sp>
      <p:sp>
        <p:nvSpPr>
          <p:cNvPr id="357" name="Google Shape;357;p6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/>
              <a:t>Why DMA is Important:</a:t>
            </a:r>
            <a:endParaRPr sz="1900" b="1"/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Speeds Up Performance: Frees up CPU to handle other tasks.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Efficient for Large Transfers: Ideal for moving blocks of data, such as loading a file into RAM.</a:t>
            </a:r>
            <a:endParaRPr sz="19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Direct Memory Access (DMA)</a:t>
            </a:r>
            <a:endParaRPr sz="3900"/>
          </a:p>
        </p:txBody>
      </p:sp>
      <p:sp>
        <p:nvSpPr>
          <p:cNvPr id="363" name="Google Shape;363;p6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/>
              <a:t>Example:</a:t>
            </a:r>
            <a:endParaRPr sz="17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Playing a video from a USB drive: the video is loaded into RAM using DMA while the CPU handles playback controls.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When listening to music, audio data is streamed from memory to the sound card using DMA. CPU is free to handle other user tasks like browsing.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When downloading a large file, the network card uses DMA to move data directly to system memory. Reduces CPU workload during file downloads.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High-end games or video editing software use DMA to load textures from memory to the GPU quickly. Boosts performance by avoiding CPU bottlenecks.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I/O Channels and Processors</a:t>
            </a:r>
            <a:endParaRPr sz="3900"/>
          </a:p>
        </p:txBody>
      </p:sp>
      <p:sp>
        <p:nvSpPr>
          <p:cNvPr id="369" name="Google Shape;369;p6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Dedicated processors for input/output tasks.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Relieve main CPU workload.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Common in servers and mainframes.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External Devices</a:t>
            </a:r>
            <a:endParaRPr sz="3900"/>
          </a:p>
        </p:txBody>
      </p:sp>
      <p:sp>
        <p:nvSpPr>
          <p:cNvPr id="375" name="Google Shape;375;p6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Devices outside the computer performing I/O functions.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Examples: Mouse, printer, external storage.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Connect via USB, HDMI, Ethernet, etc.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Arithmetic - Number Systems</a:t>
            </a:r>
            <a:endParaRPr/>
          </a:p>
        </p:txBody>
      </p:sp>
      <p:sp>
        <p:nvSpPr>
          <p:cNvPr id="381" name="Google Shape;381;p6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Number systems used by computers: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Decimal (Base 10): Human system.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Binary (Base 2): Used by computers.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Octal (Base 8): Compact form of binary.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Hexadecimal (Base 16): Simplifies binary representation.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Between Number Systems</a:t>
            </a:r>
            <a:endParaRPr/>
          </a:p>
        </p:txBody>
      </p:sp>
      <p:sp>
        <p:nvSpPr>
          <p:cNvPr id="387" name="Google Shape;387;p6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Conversions include: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Binary to Decimal and vice versa.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Octal/Hex to Binary.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Essential for understanding data processing.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Codes</a:t>
            </a:r>
            <a:endParaRPr/>
          </a:p>
        </p:txBody>
      </p:sp>
      <p:sp>
        <p:nvSpPr>
          <p:cNvPr id="393" name="Google Shape;393;p6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Represent text using standardized codes: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ASCII: For English characters.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EBCDIC: IBM mainframe systems.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UNICODE: Supports global languages and symbols.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Instruction Sets</a:t>
            </a:r>
            <a:endParaRPr/>
          </a:p>
        </p:txBody>
      </p:sp>
      <p:sp>
        <p:nvSpPr>
          <p:cNvPr id="399" name="Google Shape;399;p6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What is an Instruction Set?</a:t>
            </a:r>
            <a:endParaRPr b="1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An Instruction Set is a collection of all the instructions a CPU can execute.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It defines how software communicates with the hardware.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Acts as the interface between hardware and software.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Each instruction in the set is a binary-encoded command to perform a specific task.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Elements of Machine Instructions</a:t>
            </a:r>
            <a:endParaRPr/>
          </a:p>
        </p:txBody>
      </p:sp>
      <p:sp>
        <p:nvSpPr>
          <p:cNvPr id="405" name="Google Shape;405;p6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A machine instruction typically includes: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" sz="2000" b="1" dirty="0"/>
              <a:t>Opcode</a:t>
            </a:r>
            <a:r>
              <a:rPr lang="en" sz="2000" dirty="0"/>
              <a:t>: Specifies the operation.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" sz="2000" b="1" dirty="0"/>
              <a:t>Operand(s)</a:t>
            </a:r>
            <a:r>
              <a:rPr lang="en" sz="2000" dirty="0"/>
              <a:t>: Data or addresses involved in the operation.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" sz="2000" b="1" dirty="0"/>
              <a:t>Addressing Mode</a:t>
            </a:r>
            <a:r>
              <a:rPr lang="en" sz="2000" dirty="0"/>
              <a:t>: Indicates how operands are accessed.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Verified by analyzing bit structure and execution format.</a:t>
            </a:r>
            <a:endParaRPr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Representation and Types</a:t>
            </a:r>
            <a:endParaRPr/>
          </a:p>
        </p:txBody>
      </p:sp>
      <p:sp>
        <p:nvSpPr>
          <p:cNvPr id="411" name="Google Shape;411;p6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 dirty="0"/>
              <a:t>Instruction Format</a:t>
            </a:r>
            <a:r>
              <a:rPr lang="en" sz="1500" dirty="0"/>
              <a:t>: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○"/>
            </a:pPr>
            <a:r>
              <a:rPr lang="en" sz="1500" dirty="0"/>
              <a:t>Binary or hexadecimal encoding of operations.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○"/>
            </a:pPr>
            <a:r>
              <a:rPr lang="en" sz="1500" dirty="0"/>
              <a:t>Length varies (fixed or variable length instructions).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 dirty="0"/>
              <a:t>Instruction Types</a:t>
            </a:r>
            <a:r>
              <a:rPr lang="en" sz="1500" dirty="0"/>
              <a:t>: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Data Transfer</a:t>
            </a:r>
            <a:r>
              <a:rPr lang="en" sz="1500" dirty="0"/>
              <a:t> (e.g., MOV, LOAD, STORE)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Arithmetic/Logical</a:t>
            </a:r>
            <a:r>
              <a:rPr lang="en" sz="1500" dirty="0"/>
              <a:t> (e.g., ADD, SUB, AND)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Control</a:t>
            </a:r>
            <a:r>
              <a:rPr lang="en" sz="1500" dirty="0"/>
              <a:t> (e.g., JUMP, CALL, RETURN)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Input/Output</a:t>
            </a:r>
            <a:r>
              <a:rPr lang="en" sz="1500" dirty="0"/>
              <a:t> (e.g., IN, OUT)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 dirty="0"/>
              <a:t>Number of Addresses</a:t>
            </a:r>
            <a:r>
              <a:rPr lang="en" sz="1500" dirty="0"/>
              <a:t>: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Three-address</a:t>
            </a:r>
            <a:r>
              <a:rPr lang="en" sz="1500" dirty="0"/>
              <a:t>: Two source operands, one destination.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Two-address</a:t>
            </a:r>
            <a:r>
              <a:rPr lang="en" sz="1500" dirty="0"/>
              <a:t>: One operand is both source and destination.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One-address</a:t>
            </a:r>
            <a:r>
              <a:rPr lang="en" sz="1500" dirty="0"/>
              <a:t>: Uses accumulator-based operations.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 sz="1500" b="1" dirty="0"/>
              <a:t>Zero-address</a:t>
            </a:r>
            <a:r>
              <a:rPr lang="en" sz="1500" dirty="0"/>
              <a:t>: Stack-based operations.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Set Design, Operations, and Operands</a:t>
            </a:r>
            <a:endParaRPr/>
          </a:p>
        </p:txBody>
      </p:sp>
      <p:sp>
        <p:nvSpPr>
          <p:cNvPr id="417" name="Google Shape;417;p7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900" dirty="0"/>
              <a:t>Instruction set design involves selecting:</a:t>
            </a:r>
            <a:endParaRPr sz="19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500" dirty="0"/>
              <a:t>A minimal yet complete set of instructions.</a:t>
            </a:r>
            <a:endParaRPr sz="15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500" dirty="0"/>
              <a:t>Consistency in opcode formats and operand access.</a:t>
            </a:r>
            <a:endParaRPr sz="15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900" dirty="0"/>
              <a:t>Coordination:</a:t>
            </a:r>
            <a:endParaRPr sz="19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500" dirty="0"/>
              <a:t>Instructions must support efficient execution of operations.</a:t>
            </a:r>
            <a:endParaRPr sz="15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500" dirty="0"/>
              <a:t>Operands may be immediate values, memory addresses, or register references.</a:t>
            </a:r>
            <a:endParaRPr sz="15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500" dirty="0"/>
              <a:t>Operations should align with the processor’s capabilities (e.g., pipelining, parallelism).</a:t>
            </a:r>
            <a:endParaRPr sz="15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900" dirty="0"/>
              <a:t>Well-designed instruction sets improve performance, simplify compilers, and reduce hardware complexity.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Analyze the Difference Between CPU, RISC and CISC Architectures</a:t>
            </a:r>
            <a:endParaRPr sz="3200"/>
          </a:p>
        </p:txBody>
      </p:sp>
      <p:sp>
        <p:nvSpPr>
          <p:cNvPr id="423" name="Google Shape;423;p7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/>
              <a:t>Overview of CPU Architectures</a:t>
            </a:r>
            <a:endParaRPr sz="16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The CPU (Central Processing Unit) is the brain of the computer, responsible for executing instructions.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RISC (Reduced Instruction Set Computing) and CISC (Complex Instruction Set Computing) are two major types of CPU architecture.</a:t>
            </a:r>
            <a:endParaRPr sz="140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/>
              <a:t>CISC Architecture Features</a:t>
            </a:r>
            <a:endParaRPr sz="16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Emphasis on hardware complexity.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Multi-clock cycle complex instructions.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Memory-to-memory operations (e.g., instruction can fetch and execute in one step).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Smaller code sizes.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High cycles per second.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 sz="1400"/>
              <a:t>Greater number of transistors used for complex control logic.</a:t>
            </a:r>
            <a:endParaRPr sz="21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Analyze the Difference Between CPU, RISC and CISC Architectures</a:t>
            </a:r>
            <a:endParaRPr/>
          </a:p>
        </p:txBody>
      </p:sp>
      <p:sp>
        <p:nvSpPr>
          <p:cNvPr id="429" name="Google Shape;429;p7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00" b="1"/>
              <a:t>RISC Architecture Features</a:t>
            </a:r>
            <a:endParaRPr sz="240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Emphasis on software simplicity.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Single-clock cycle instructions.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Register-to-register operations (load/store separated).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Larger code sizes.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Lower cycles per second per instruction.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More transistors allocated for memory/register access and pipelining.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Analyze the Difference Between CPU, RISC and CISC Architectures</a:t>
            </a:r>
            <a:endParaRPr sz="3200"/>
          </a:p>
        </p:txBody>
      </p:sp>
      <p:sp>
        <p:nvSpPr>
          <p:cNvPr id="435" name="Google Shape;435;p7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/>
              <a:t>Example of Program Execution</a:t>
            </a:r>
            <a:endParaRPr sz="1900" b="1"/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CISC</a:t>
            </a:r>
            <a:r>
              <a:rPr lang="en" sz="1700"/>
              <a:t>: One instruction (e.g., </a:t>
            </a:r>
            <a:r>
              <a:rPr lang="en" sz="1700">
                <a:solidFill>
                  <a:srgbClr val="188038"/>
                </a:solidFill>
              </a:rPr>
              <a:t>ADD A, B</a:t>
            </a:r>
            <a:r>
              <a:rPr lang="en" sz="1700"/>
              <a:t>) may fetch operands from memory, add, and store result.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 b="1"/>
              <a:t>RISC</a:t>
            </a:r>
            <a:r>
              <a:rPr lang="en" sz="1700"/>
              <a:t>: Requires multiple instructions (e.g., </a:t>
            </a:r>
            <a:r>
              <a:rPr lang="en" sz="1700">
                <a:solidFill>
                  <a:srgbClr val="188038"/>
                </a:solidFill>
              </a:rPr>
              <a:t>LOAD R1, A</a:t>
            </a:r>
            <a:r>
              <a:rPr lang="en" sz="1700"/>
              <a:t>; </a:t>
            </a:r>
            <a:r>
              <a:rPr lang="en" sz="1700">
                <a:solidFill>
                  <a:srgbClr val="188038"/>
                </a:solidFill>
              </a:rPr>
              <a:t>LOAD R2, B</a:t>
            </a:r>
            <a:r>
              <a:rPr lang="en" sz="1700"/>
              <a:t>; </a:t>
            </a:r>
            <a:r>
              <a:rPr lang="en" sz="1700">
                <a:solidFill>
                  <a:srgbClr val="188038"/>
                </a:solidFill>
              </a:rPr>
              <a:t>ADD R3, R1, R2</a:t>
            </a:r>
            <a:r>
              <a:rPr lang="en" sz="1700"/>
              <a:t>; </a:t>
            </a:r>
            <a:r>
              <a:rPr lang="en" sz="1700">
                <a:solidFill>
                  <a:srgbClr val="188038"/>
                </a:solidFill>
              </a:rPr>
              <a:t>STORE C, R3</a:t>
            </a:r>
            <a:r>
              <a:rPr lang="en" sz="1700"/>
              <a:t>).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3956</Words>
  <Application>Microsoft Office PowerPoint</Application>
  <PresentationFormat>On-screen Show (16:9)</PresentationFormat>
  <Paragraphs>417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Economica</vt:lpstr>
      <vt:lpstr>Arial</vt:lpstr>
      <vt:lpstr>Open Sans</vt:lpstr>
      <vt:lpstr>Luxe</vt:lpstr>
      <vt:lpstr>Computer Organization and Architecture</vt:lpstr>
      <vt:lpstr>Introduction</vt:lpstr>
      <vt:lpstr>What is a Computer?</vt:lpstr>
      <vt:lpstr>History of Computers</vt:lpstr>
      <vt:lpstr>Generations of Computers</vt:lpstr>
      <vt:lpstr>Generations of Computers</vt:lpstr>
      <vt:lpstr>Generations of Computers</vt:lpstr>
      <vt:lpstr>How Does a Computer Work?</vt:lpstr>
      <vt:lpstr>Computer Architecture vs. Organization</vt:lpstr>
      <vt:lpstr>What is a Bus in a Computer?</vt:lpstr>
      <vt:lpstr>Common Bus Systems</vt:lpstr>
      <vt:lpstr>Common Bus Systems</vt:lpstr>
      <vt:lpstr>Common Bus Systems</vt:lpstr>
      <vt:lpstr>Common Bus Systems</vt:lpstr>
      <vt:lpstr>How Buses Work</vt:lpstr>
      <vt:lpstr>How Buses Work</vt:lpstr>
      <vt:lpstr>How Buses Work</vt:lpstr>
      <vt:lpstr>How Buses Work</vt:lpstr>
      <vt:lpstr>How Buses Work</vt:lpstr>
      <vt:lpstr>Internal Memory</vt:lpstr>
      <vt:lpstr>Internal Memory</vt:lpstr>
      <vt:lpstr>Registers</vt:lpstr>
      <vt:lpstr>Cache Memory</vt:lpstr>
      <vt:lpstr>Cache Memory</vt:lpstr>
      <vt:lpstr>Registers vs Cache Memory </vt:lpstr>
      <vt:lpstr>PowerPoint Presentation</vt:lpstr>
      <vt:lpstr>PowerPoint Presentation</vt:lpstr>
      <vt:lpstr>External Memory</vt:lpstr>
      <vt:lpstr>Storage Device Characteristics</vt:lpstr>
      <vt:lpstr>Storage Device Characteristics</vt:lpstr>
      <vt:lpstr>Hard Disk Storage</vt:lpstr>
      <vt:lpstr>Magnetic Storage</vt:lpstr>
      <vt:lpstr>Optical Mass Storage Devices</vt:lpstr>
      <vt:lpstr>Solid State Disk (SSD)</vt:lpstr>
      <vt:lpstr>Non-Volatile Memory Express:(NVMe)</vt:lpstr>
      <vt:lpstr>SSD vs NVMe</vt:lpstr>
      <vt:lpstr>External Memory Configuration Technologies</vt:lpstr>
      <vt:lpstr>RAID (Redundant Array of Independent Disks)</vt:lpstr>
      <vt:lpstr>NAS (Network Attached Storage)</vt:lpstr>
      <vt:lpstr>Cloud Storage</vt:lpstr>
      <vt:lpstr>Cloud Storage</vt:lpstr>
      <vt:lpstr>Hardware Operating System Support</vt:lpstr>
      <vt:lpstr>Interrupts</vt:lpstr>
      <vt:lpstr>Interrupts</vt:lpstr>
      <vt:lpstr>Interrupts</vt:lpstr>
      <vt:lpstr>Direct Memory Access (DMA)</vt:lpstr>
      <vt:lpstr>Direct Memory Access (DMA)</vt:lpstr>
      <vt:lpstr>Direct Memory Access (DMA)</vt:lpstr>
      <vt:lpstr>Direct Memory Access (DMA)</vt:lpstr>
      <vt:lpstr>I/O Channels and Processors</vt:lpstr>
      <vt:lpstr>External Devices</vt:lpstr>
      <vt:lpstr>Computer Arithmetic - Number Systems</vt:lpstr>
      <vt:lpstr>Conversion Between Number Systems</vt:lpstr>
      <vt:lpstr>Character Codes</vt:lpstr>
      <vt:lpstr>Design Instruction Sets</vt:lpstr>
      <vt:lpstr>Elements of Machine Instructions</vt:lpstr>
      <vt:lpstr>Instruction Representation and Types</vt:lpstr>
      <vt:lpstr>Instruction Set Design, Operations, and Operands</vt:lpstr>
      <vt:lpstr>Analyze the Difference Between CPU, RISC and CISC Architectures</vt:lpstr>
      <vt:lpstr>Analyze the Difference Between CPU, RISC and CISC Architectures</vt:lpstr>
      <vt:lpstr>Analyze the Difference Between CPU, RISC and CISC Architectures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Isaac Makosa</cp:lastModifiedBy>
  <cp:revision>2</cp:revision>
  <dcterms:modified xsi:type="dcterms:W3CDTF">2025-08-27T08:03:38Z</dcterms:modified>
</cp:coreProperties>
</file>